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2EAA6B-E89B-4D62-83F7-F563EE3CE4B5}">
          <p14:sldIdLst>
            <p14:sldId id="256"/>
            <p14:sldId id="257"/>
            <p14:sldId id="258"/>
            <p14:sldId id="259"/>
            <p14:sldId id="260"/>
            <p14:sldId id="261"/>
            <p14:sldId id="262"/>
            <p14:sldId id="263"/>
            <p14:sldId id="264"/>
            <p14:sldId id="265"/>
            <p14:sldId id="266"/>
            <p14:sldId id="267"/>
            <p14:sldId id="268"/>
            <p14:sldId id="269"/>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78" d="100"/>
          <a:sy n="78" d="100"/>
        </p:scale>
        <p:origin x="100" y="1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12/20/2024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12/20/2024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12/20/2024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12/20/2024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12/20/2024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12/20/2024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12/20/2024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12/20/2024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12/20/2024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12/20/2024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12/20/2024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BCFDC-7FEB-4191-8904-824BB0D09149}"/>
              </a:ext>
            </a:extLst>
          </p:cNvPr>
          <p:cNvSpPr>
            <a:spLocks noGrp="1"/>
          </p:cNvSpPr>
          <p:nvPr>
            <p:ph type="ctrTitle"/>
          </p:nvPr>
        </p:nvSpPr>
        <p:spPr>
          <a:xfrm>
            <a:off x="6436181" y="3297028"/>
            <a:ext cx="4717061" cy="1738993"/>
          </a:xfrm>
        </p:spPr>
        <p:txBody>
          <a:bodyPr/>
          <a:lstStyle/>
          <a:p>
            <a:r>
              <a:rPr lang="en-IN" sz="6600" b="1" dirty="0"/>
              <a:t>LearnBytes</a:t>
            </a:r>
            <a:br>
              <a:rPr lang="en-IN" sz="6600" b="1" dirty="0"/>
            </a:br>
            <a:endParaRPr lang="en-IN" sz="6600" b="1" dirty="0"/>
          </a:p>
        </p:txBody>
      </p:sp>
      <p:sp>
        <p:nvSpPr>
          <p:cNvPr id="3" name="Subtitle 2">
            <a:extLst>
              <a:ext uri="{FF2B5EF4-FFF2-40B4-BE49-F238E27FC236}">
                <a16:creationId xmlns:a16="http://schemas.microsoft.com/office/drawing/2014/main" id="{5D1EE03E-9796-4157-ACE4-F04D3CDB4C9E}"/>
              </a:ext>
            </a:extLst>
          </p:cNvPr>
          <p:cNvSpPr>
            <a:spLocks noGrp="1"/>
          </p:cNvSpPr>
          <p:nvPr>
            <p:ph type="subTitle" idx="1"/>
          </p:nvPr>
        </p:nvSpPr>
        <p:spPr>
          <a:xfrm>
            <a:off x="7070271" y="3989526"/>
            <a:ext cx="3838042" cy="816428"/>
          </a:xfrm>
        </p:spPr>
        <p:txBody>
          <a:bodyPr/>
          <a:lstStyle/>
          <a:p>
            <a:pPr algn="r"/>
            <a:r>
              <a:rPr lang="en-IN" sz="2000" b="1" dirty="0"/>
              <a:t>AN ED-TECH PLATFORM</a:t>
            </a:r>
          </a:p>
          <a:p>
            <a:endParaRPr lang="en-US" dirty="0"/>
          </a:p>
          <a:p>
            <a:endParaRPr lang="en-US" dirty="0"/>
          </a:p>
          <a:p>
            <a:endParaRPr lang="en-US" dirty="0"/>
          </a:p>
          <a:p>
            <a:endParaRPr lang="en-US" dirty="0"/>
          </a:p>
          <a:p>
            <a:endParaRPr lang="en-US" dirty="0"/>
          </a:p>
          <a:p>
            <a:endParaRPr lang="en-IN" dirty="0"/>
          </a:p>
        </p:txBody>
      </p:sp>
      <p:sp>
        <p:nvSpPr>
          <p:cNvPr id="6" name="TextBox 5">
            <a:extLst>
              <a:ext uri="{FF2B5EF4-FFF2-40B4-BE49-F238E27FC236}">
                <a16:creationId xmlns:a16="http://schemas.microsoft.com/office/drawing/2014/main" id="{76FF7005-EA1F-4CFF-80F8-193A012839ED}"/>
              </a:ext>
            </a:extLst>
          </p:cNvPr>
          <p:cNvSpPr txBox="1"/>
          <p:nvPr/>
        </p:nvSpPr>
        <p:spPr>
          <a:xfrm>
            <a:off x="1792064" y="3036238"/>
            <a:ext cx="4327072" cy="1384995"/>
          </a:xfrm>
          <a:prstGeom prst="rect">
            <a:avLst/>
          </a:prstGeom>
          <a:noFill/>
        </p:spPr>
        <p:txBody>
          <a:bodyPr wrap="square" rtlCol="0">
            <a:spAutoFit/>
          </a:bodyPr>
          <a:lstStyle/>
          <a:p>
            <a:r>
              <a:rPr lang="en-US" sz="2400" b="1" dirty="0">
                <a:solidFill>
                  <a:schemeClr val="bg1"/>
                </a:solidFill>
              </a:rPr>
              <a:t>Submitted By:-</a:t>
            </a:r>
          </a:p>
          <a:p>
            <a:pPr marL="285750" indent="-285750">
              <a:buFont typeface="Arial" panose="020B0604020202020204" pitchFamily="34" charset="0"/>
              <a:buChar char="•"/>
            </a:pPr>
            <a:r>
              <a:rPr lang="en-US" sz="2000" dirty="0">
                <a:solidFill>
                  <a:schemeClr val="bg1"/>
                </a:solidFill>
              </a:rPr>
              <a:t>Ankit Jha (2202220100036)</a:t>
            </a:r>
          </a:p>
          <a:p>
            <a:pPr marL="342900" indent="-342900">
              <a:buFont typeface="Arial" panose="020B0604020202020204" pitchFamily="34" charset="0"/>
              <a:buChar char="•"/>
            </a:pPr>
            <a:r>
              <a:rPr lang="en-US" sz="2000" dirty="0">
                <a:solidFill>
                  <a:schemeClr val="bg1"/>
                </a:solidFill>
              </a:rPr>
              <a:t>Dhruv Sharma(2202220100061)</a:t>
            </a:r>
          </a:p>
          <a:p>
            <a:pPr marL="342900" indent="-342900">
              <a:buFont typeface="Arial" panose="020B0604020202020204" pitchFamily="34" charset="0"/>
              <a:buChar char="•"/>
            </a:pPr>
            <a:r>
              <a:rPr lang="en-US" sz="2000" dirty="0">
                <a:solidFill>
                  <a:schemeClr val="bg1"/>
                </a:solidFill>
              </a:rPr>
              <a:t>Akshat Mishra(2202220100030)</a:t>
            </a:r>
            <a:endParaRPr lang="en-IN" sz="2000" dirty="0">
              <a:solidFill>
                <a:schemeClr val="bg1"/>
              </a:solidFill>
            </a:endParaRPr>
          </a:p>
        </p:txBody>
      </p:sp>
      <p:sp>
        <p:nvSpPr>
          <p:cNvPr id="7" name="TextBox 6">
            <a:extLst>
              <a:ext uri="{FF2B5EF4-FFF2-40B4-BE49-F238E27FC236}">
                <a16:creationId xmlns:a16="http://schemas.microsoft.com/office/drawing/2014/main" id="{000362DD-95C6-4127-966E-4E2CCF0894C6}"/>
              </a:ext>
            </a:extLst>
          </p:cNvPr>
          <p:cNvSpPr txBox="1"/>
          <p:nvPr/>
        </p:nvSpPr>
        <p:spPr>
          <a:xfrm>
            <a:off x="1796142" y="4421233"/>
            <a:ext cx="3959678" cy="769441"/>
          </a:xfrm>
          <a:prstGeom prst="rect">
            <a:avLst/>
          </a:prstGeom>
          <a:noFill/>
        </p:spPr>
        <p:txBody>
          <a:bodyPr wrap="square" rtlCol="0">
            <a:spAutoFit/>
          </a:bodyPr>
          <a:lstStyle/>
          <a:p>
            <a:r>
              <a:rPr lang="en-US" sz="2400" b="1" dirty="0">
                <a:solidFill>
                  <a:schemeClr val="bg1"/>
                </a:solidFill>
              </a:rPr>
              <a:t>Submitted To:-</a:t>
            </a:r>
          </a:p>
          <a:p>
            <a:r>
              <a:rPr lang="en-US" sz="2000" dirty="0">
                <a:solidFill>
                  <a:schemeClr val="bg1"/>
                </a:solidFill>
              </a:rPr>
              <a:t>Dr. Ghanshyam Yadav</a:t>
            </a:r>
            <a:endParaRPr lang="en-IN" sz="2000" dirty="0">
              <a:solidFill>
                <a:schemeClr val="bg1"/>
              </a:solidFill>
            </a:endParaRPr>
          </a:p>
        </p:txBody>
      </p:sp>
    </p:spTree>
    <p:extLst>
      <p:ext uri="{BB962C8B-B14F-4D97-AF65-F5344CB8AC3E}">
        <p14:creationId xmlns:p14="http://schemas.microsoft.com/office/powerpoint/2010/main" val="3048958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34A2A-D2E4-473F-BC48-EB6B22E0E706}"/>
              </a:ext>
            </a:extLst>
          </p:cNvPr>
          <p:cNvSpPr>
            <a:spLocks noGrp="1"/>
          </p:cNvSpPr>
          <p:nvPr>
            <p:ph type="title"/>
          </p:nvPr>
        </p:nvSpPr>
        <p:spPr/>
        <p:txBody>
          <a:bodyPr/>
          <a:lstStyle/>
          <a:p>
            <a:r>
              <a:rPr lang="en-IN" dirty="0"/>
              <a:t>Project Description</a:t>
            </a:r>
            <a:br>
              <a:rPr lang="en-IN" dirty="0"/>
            </a:br>
            <a:endParaRPr lang="en-IN" dirty="0"/>
          </a:p>
        </p:txBody>
      </p:sp>
      <p:sp>
        <p:nvSpPr>
          <p:cNvPr id="3" name="Content Placeholder 2">
            <a:extLst>
              <a:ext uri="{FF2B5EF4-FFF2-40B4-BE49-F238E27FC236}">
                <a16:creationId xmlns:a16="http://schemas.microsoft.com/office/drawing/2014/main" id="{5A3DCA49-23E8-4AE4-BE60-BC1DB2EFDA76}"/>
              </a:ext>
            </a:extLst>
          </p:cNvPr>
          <p:cNvSpPr>
            <a:spLocks noGrp="1"/>
          </p:cNvSpPr>
          <p:nvPr>
            <p:ph idx="1"/>
          </p:nvPr>
        </p:nvSpPr>
        <p:spPr/>
        <p:txBody>
          <a:bodyPr/>
          <a:lstStyle/>
          <a:p>
            <a:r>
              <a:rPr lang="en-IN" dirty="0"/>
              <a:t>LearnBytes is a fully functional ed-tech platform that enables users to create, consume, and rate educational content. The platform is built using the MERN stack, which includes ReactJS, NodeJS, MongoDB, and </a:t>
            </a:r>
            <a:r>
              <a:rPr lang="en-IN" dirty="0" err="1"/>
              <a:t>ExpressJS</a:t>
            </a:r>
            <a:r>
              <a:rPr lang="en-IN" dirty="0"/>
              <a:t>.</a:t>
            </a:r>
          </a:p>
          <a:p>
            <a:r>
              <a:rPr lang="en-IN" dirty="0"/>
              <a:t>LearnBytes aims to provide:</a:t>
            </a:r>
          </a:p>
          <a:p>
            <a:pPr lvl="2" fontAlgn="base">
              <a:buFont typeface="Wingdings" panose="05000000000000000000" pitchFamily="2" charset="2"/>
              <a:buChar char="§"/>
            </a:pPr>
            <a:r>
              <a:rPr lang="en-IN" dirty="0"/>
              <a:t>A seamless and interactive learning experience for students, making education more accessible and engaging.</a:t>
            </a:r>
          </a:p>
          <a:p>
            <a:pPr lvl="2" fontAlgn="base">
              <a:buFont typeface="Wingdings" panose="05000000000000000000" pitchFamily="2" charset="2"/>
              <a:buChar char="§"/>
            </a:pPr>
            <a:r>
              <a:rPr lang="en-IN" dirty="0"/>
              <a:t>A platform for instructors to showcase their expertise and connect with learners across the globe.</a:t>
            </a:r>
          </a:p>
          <a:p>
            <a:endParaRPr lang="en-IN" dirty="0"/>
          </a:p>
        </p:txBody>
      </p:sp>
    </p:spTree>
    <p:extLst>
      <p:ext uri="{BB962C8B-B14F-4D97-AF65-F5344CB8AC3E}">
        <p14:creationId xmlns:p14="http://schemas.microsoft.com/office/powerpoint/2010/main" val="2728304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7BCC-DF57-4611-ABC6-5CBF2BD95209}"/>
              </a:ext>
            </a:extLst>
          </p:cNvPr>
          <p:cNvSpPr>
            <a:spLocks noGrp="1"/>
          </p:cNvSpPr>
          <p:nvPr>
            <p:ph type="title"/>
          </p:nvPr>
        </p:nvSpPr>
        <p:spPr>
          <a:xfrm>
            <a:off x="-2790908" y="973668"/>
            <a:ext cx="485031" cy="706964"/>
          </a:xfrm>
        </p:spPr>
        <p:txBody>
          <a:bodyPr/>
          <a:lstStyle/>
          <a:p>
            <a:endParaRPr lang="en-IN" dirty="0"/>
          </a:p>
        </p:txBody>
      </p:sp>
      <p:sp>
        <p:nvSpPr>
          <p:cNvPr id="3" name="Content Placeholder 2">
            <a:extLst>
              <a:ext uri="{FF2B5EF4-FFF2-40B4-BE49-F238E27FC236}">
                <a16:creationId xmlns:a16="http://schemas.microsoft.com/office/drawing/2014/main" id="{238FA147-9C1E-4456-A20D-CA006C2890F1}"/>
              </a:ext>
            </a:extLst>
          </p:cNvPr>
          <p:cNvSpPr>
            <a:spLocks noGrp="1"/>
          </p:cNvSpPr>
          <p:nvPr>
            <p:ph idx="1"/>
          </p:nvPr>
        </p:nvSpPr>
        <p:spPr>
          <a:xfrm>
            <a:off x="1154954" y="973668"/>
            <a:ext cx="8825659" cy="5046132"/>
          </a:xfrm>
        </p:spPr>
        <p:txBody>
          <a:bodyPr>
            <a:normAutofit/>
          </a:bodyPr>
          <a:lstStyle/>
          <a:p>
            <a:r>
              <a:rPr lang="en-US" dirty="0">
                <a:solidFill>
                  <a:schemeClr val="accent5">
                    <a:lumMod val="20000"/>
                    <a:lumOff val="80000"/>
                  </a:schemeClr>
                </a:solidFill>
              </a:rPr>
              <a:t>In the following sections, we will cover the technical details of the platform, including: </a:t>
            </a:r>
          </a:p>
          <a:p>
            <a:pPr lvl="2">
              <a:buFont typeface="Wingdings" panose="05000000000000000000" pitchFamily="2" charset="2"/>
              <a:buChar char="§"/>
            </a:pPr>
            <a:r>
              <a:rPr lang="en-US" dirty="0">
                <a:solidFill>
                  <a:schemeClr val="accent5">
                    <a:lumMod val="20000"/>
                    <a:lumOff val="80000"/>
                  </a:schemeClr>
                </a:solidFill>
              </a:rPr>
              <a:t>System architecture: The high-level overview of the platform's components and diagrams of the architecture.</a:t>
            </a:r>
          </a:p>
          <a:p>
            <a:pPr lvl="2">
              <a:buFont typeface="Wingdings" panose="05000000000000000000" pitchFamily="2" charset="2"/>
              <a:buChar char="§"/>
            </a:pPr>
            <a:r>
              <a:rPr lang="en-US" dirty="0">
                <a:solidFill>
                  <a:schemeClr val="tx1"/>
                </a:solidFill>
              </a:rPr>
              <a:t>Front-end: The description of the front-end architecture, user interface design, features, </a:t>
            </a:r>
            <a:r>
              <a:rPr lang="en-US" dirty="0"/>
              <a:t>and functionalities of the front-end, and frameworks, libraries, and tools used. </a:t>
            </a:r>
          </a:p>
          <a:p>
            <a:pPr lvl="2">
              <a:buFont typeface="Wingdings" panose="05000000000000000000" pitchFamily="2" charset="2"/>
              <a:buChar char="§"/>
            </a:pPr>
            <a:r>
              <a:rPr lang="en-US" dirty="0"/>
              <a:t>Back-end: The description of the back-end architecture, features and functionalities of the back-end, frameworks, libraries, tools used, and data models and database schema. </a:t>
            </a:r>
          </a:p>
          <a:p>
            <a:pPr lvl="2">
              <a:buFont typeface="Wingdings" panose="05000000000000000000" pitchFamily="2" charset="2"/>
              <a:buChar char="§"/>
            </a:pPr>
            <a:r>
              <a:rPr lang="en-US" dirty="0"/>
              <a:t>API Design: The description of the API design, list of API endpoints, their functionalities, and sample API requests and responses. </a:t>
            </a:r>
          </a:p>
          <a:p>
            <a:pPr lvl="2">
              <a:buFont typeface="Wingdings" panose="05000000000000000000" pitchFamily="2" charset="2"/>
              <a:buChar char="§"/>
            </a:pPr>
            <a:r>
              <a:rPr lang="en-US" dirty="0"/>
              <a:t>Deployment: The description of the deployment process, hosting environment and infrastructure, and deployment scripts and configuration. </a:t>
            </a:r>
          </a:p>
          <a:p>
            <a:pPr lvl="2">
              <a:buFont typeface="Wingdings" panose="05000000000000000000" pitchFamily="2" charset="2"/>
              <a:buChar char="§"/>
            </a:pPr>
            <a:r>
              <a:rPr lang="en-US" dirty="0"/>
              <a:t>Testing: The description of the testing process, types of testing, test frameworks and tools used. </a:t>
            </a:r>
          </a:p>
          <a:p>
            <a:pPr lvl="2">
              <a:buFont typeface="Wingdings" panose="05000000000000000000" pitchFamily="2" charset="2"/>
              <a:buChar char="§"/>
            </a:pPr>
            <a:r>
              <a:rPr lang="en-US" dirty="0"/>
              <a:t>Future Enhancements: The list of potential future enhancements to the platform, explanation of how these enhancements would improve the platform, estimated timeline and priority for implementing these enhancements.</a:t>
            </a:r>
            <a:endParaRPr lang="en-IN" dirty="0"/>
          </a:p>
        </p:txBody>
      </p:sp>
    </p:spTree>
    <p:extLst>
      <p:ext uri="{BB962C8B-B14F-4D97-AF65-F5344CB8AC3E}">
        <p14:creationId xmlns:p14="http://schemas.microsoft.com/office/powerpoint/2010/main" val="1579235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ABD4B-5494-4899-9699-156D6C967A3D}"/>
              </a:ext>
            </a:extLst>
          </p:cNvPr>
          <p:cNvSpPr>
            <a:spLocks noGrp="1"/>
          </p:cNvSpPr>
          <p:nvPr>
            <p:ph type="title"/>
          </p:nvPr>
        </p:nvSpPr>
        <p:spPr/>
        <p:txBody>
          <a:bodyPr/>
          <a:lstStyle/>
          <a:p>
            <a:r>
              <a:rPr lang="en-IN" dirty="0"/>
              <a:t>System Architecture</a:t>
            </a:r>
          </a:p>
        </p:txBody>
      </p:sp>
      <p:sp>
        <p:nvSpPr>
          <p:cNvPr id="3" name="Content Placeholder 2">
            <a:extLst>
              <a:ext uri="{FF2B5EF4-FFF2-40B4-BE49-F238E27FC236}">
                <a16:creationId xmlns:a16="http://schemas.microsoft.com/office/drawing/2014/main" id="{6F213A1B-7967-4097-B15C-2619CC011784}"/>
              </a:ext>
            </a:extLst>
          </p:cNvPr>
          <p:cNvSpPr>
            <a:spLocks noGrp="1"/>
          </p:cNvSpPr>
          <p:nvPr>
            <p:ph idx="1"/>
          </p:nvPr>
        </p:nvSpPr>
        <p:spPr/>
        <p:txBody>
          <a:bodyPr>
            <a:normAutofit fontScale="85000" lnSpcReduction="10000"/>
          </a:bodyPr>
          <a:lstStyle/>
          <a:p>
            <a:r>
              <a:rPr lang="en-US" dirty="0"/>
              <a:t>The LearnBytes ed-tech platform consists of three main components: the front end, the back end, and the database. The platform follows a client-server architecture, with the front end serving as the client and the back end and database serving as the server. </a:t>
            </a:r>
          </a:p>
          <a:p>
            <a:r>
              <a:rPr lang="en-IN" dirty="0"/>
              <a:t>Front-end</a:t>
            </a:r>
          </a:p>
          <a:p>
            <a:pPr lvl="1">
              <a:buFont typeface="Wingdings" panose="05000000000000000000" pitchFamily="2" charset="2"/>
              <a:buChar char="§"/>
            </a:pPr>
            <a:r>
              <a:rPr lang="en-US" dirty="0"/>
              <a:t>The front end of the platform is built using ReactJS, which is a popular JavaScript library for building user interfaces. ReactJS allows for the creation of dynamic and responsive user interfaces, which are critical for providing an engaging learning experience to the students. The front end communicates with the back end using RESTful API calls.</a:t>
            </a:r>
          </a:p>
          <a:p>
            <a:r>
              <a:rPr lang="en-IN" dirty="0"/>
              <a:t>Back-end</a:t>
            </a:r>
          </a:p>
          <a:p>
            <a:pPr lvl="1">
              <a:buFont typeface="Wingdings" panose="05000000000000000000" pitchFamily="2" charset="2"/>
              <a:buChar char="§"/>
            </a:pPr>
            <a:r>
              <a:rPr lang="en-US" dirty="0"/>
              <a:t>The back end of the platform is built using NodeJS and </a:t>
            </a:r>
            <a:r>
              <a:rPr lang="en-US" dirty="0" err="1"/>
              <a:t>ExpressJS</a:t>
            </a:r>
            <a:r>
              <a:rPr lang="en-US" dirty="0"/>
              <a:t>, which are popular frameworks for building scalable and robust server-side applications. The back end provides APIs for the front end to consume, which include functionalities such as user authentication, course creation, and course consumption. The back end also handles the logic for processing and storing the course content and user data</a:t>
            </a:r>
          </a:p>
        </p:txBody>
      </p:sp>
    </p:spTree>
    <p:extLst>
      <p:ext uri="{BB962C8B-B14F-4D97-AF65-F5344CB8AC3E}">
        <p14:creationId xmlns:p14="http://schemas.microsoft.com/office/powerpoint/2010/main" val="1263318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C5881-0CCC-4900-BF85-11EA11EFC7FB}"/>
              </a:ext>
            </a:extLst>
          </p:cNvPr>
          <p:cNvSpPr>
            <a:spLocks noGrp="1"/>
          </p:cNvSpPr>
          <p:nvPr>
            <p:ph type="title"/>
          </p:nvPr>
        </p:nvSpPr>
        <p:spPr>
          <a:xfrm>
            <a:off x="-3192236" y="973668"/>
            <a:ext cx="57151" cy="706964"/>
          </a:xfrm>
        </p:spPr>
        <p:txBody>
          <a:bodyPr/>
          <a:lstStyle/>
          <a:p>
            <a:endParaRPr lang="en-IN" dirty="0"/>
          </a:p>
        </p:txBody>
      </p:sp>
      <p:sp>
        <p:nvSpPr>
          <p:cNvPr id="3" name="Content Placeholder 2">
            <a:extLst>
              <a:ext uri="{FF2B5EF4-FFF2-40B4-BE49-F238E27FC236}">
                <a16:creationId xmlns:a16="http://schemas.microsoft.com/office/drawing/2014/main" id="{75D17276-D123-43C0-B648-5120023A8FDF}"/>
              </a:ext>
            </a:extLst>
          </p:cNvPr>
          <p:cNvSpPr>
            <a:spLocks noGrp="1"/>
          </p:cNvSpPr>
          <p:nvPr>
            <p:ph idx="1"/>
          </p:nvPr>
        </p:nvSpPr>
        <p:spPr>
          <a:xfrm>
            <a:off x="1154954" y="973668"/>
            <a:ext cx="8825659" cy="5046132"/>
          </a:xfrm>
        </p:spPr>
        <p:txBody>
          <a:bodyPr/>
          <a:lstStyle/>
          <a:p>
            <a:r>
              <a:rPr lang="en-IN" dirty="0">
                <a:solidFill>
                  <a:schemeClr val="tx2">
                    <a:lumMod val="40000"/>
                    <a:lumOff val="60000"/>
                  </a:schemeClr>
                </a:solidFill>
              </a:rPr>
              <a:t>Database</a:t>
            </a:r>
          </a:p>
          <a:p>
            <a:pPr lvl="1">
              <a:buFont typeface="Wingdings" panose="05000000000000000000" pitchFamily="2" charset="2"/>
              <a:buChar char="§"/>
            </a:pPr>
            <a:r>
              <a:rPr lang="en-US" dirty="0">
                <a:solidFill>
                  <a:schemeClr val="tx2">
                    <a:lumMod val="40000"/>
                    <a:lumOff val="60000"/>
                  </a:schemeClr>
                </a:solidFill>
              </a:rPr>
              <a:t>The database for the platform is built using MongoDB, which is a NoSQL database that provides a flexible and scalable data storage solution. MongoDB allows for the storage of unstructured and semi-structured data, which is useful </a:t>
            </a:r>
            <a:r>
              <a:rPr lang="en-US" dirty="0"/>
              <a:t>for storing course content such as videos, images, and PDFs. The database stores the course content, user data, and other relevant information related to the platform.</a:t>
            </a:r>
            <a:endParaRPr lang="en-IN" dirty="0">
              <a:solidFill>
                <a:schemeClr val="tx2">
                  <a:lumMod val="40000"/>
                  <a:lumOff val="60000"/>
                </a:schemeClr>
              </a:solidFill>
            </a:endParaRPr>
          </a:p>
          <a:p>
            <a:r>
              <a:rPr lang="en-IN" dirty="0"/>
              <a:t>Architecture Diagram</a:t>
            </a:r>
          </a:p>
          <a:p>
            <a:pPr lvl="1">
              <a:buFont typeface="Wingdings" panose="05000000000000000000" pitchFamily="2" charset="2"/>
              <a:buChar char="§"/>
            </a:pPr>
            <a:r>
              <a:rPr lang="en-US" dirty="0"/>
              <a:t>Here is a high-level diagram that illustrates the architecture of the LearnBytes ed-tech platform:</a:t>
            </a:r>
          </a:p>
          <a:p>
            <a:pPr marL="457200" lvl="1" indent="0">
              <a:buNone/>
            </a:pPr>
            <a:endParaRPr lang="en-US" dirty="0"/>
          </a:p>
        </p:txBody>
      </p:sp>
      <p:pic>
        <p:nvPicPr>
          <p:cNvPr id="5" name="Picture 4">
            <a:extLst>
              <a:ext uri="{FF2B5EF4-FFF2-40B4-BE49-F238E27FC236}">
                <a16:creationId xmlns:a16="http://schemas.microsoft.com/office/drawing/2014/main" id="{089C19B6-04FF-4B8A-809E-79445C895B0F}"/>
              </a:ext>
            </a:extLst>
          </p:cNvPr>
          <p:cNvPicPr>
            <a:picLocks noChangeAspect="1"/>
          </p:cNvPicPr>
          <p:nvPr/>
        </p:nvPicPr>
        <p:blipFill>
          <a:blip r:embed="rId2"/>
          <a:stretch>
            <a:fillRect/>
          </a:stretch>
        </p:blipFill>
        <p:spPr>
          <a:xfrm>
            <a:off x="1519093" y="3949977"/>
            <a:ext cx="8097380" cy="2534004"/>
          </a:xfrm>
          <a:prstGeom prst="rect">
            <a:avLst/>
          </a:prstGeom>
        </p:spPr>
      </p:pic>
    </p:spTree>
    <p:extLst>
      <p:ext uri="{BB962C8B-B14F-4D97-AF65-F5344CB8AC3E}">
        <p14:creationId xmlns:p14="http://schemas.microsoft.com/office/powerpoint/2010/main" val="3444488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0FC83-C604-415A-A625-A846CAAA75EC}"/>
              </a:ext>
            </a:extLst>
          </p:cNvPr>
          <p:cNvSpPr>
            <a:spLocks noGrp="1"/>
          </p:cNvSpPr>
          <p:nvPr>
            <p:ph type="title"/>
          </p:nvPr>
        </p:nvSpPr>
        <p:spPr/>
        <p:txBody>
          <a:bodyPr/>
          <a:lstStyle/>
          <a:p>
            <a:r>
              <a:rPr lang="en-IN" dirty="0"/>
              <a:t>Front-end</a:t>
            </a:r>
          </a:p>
        </p:txBody>
      </p:sp>
      <p:sp>
        <p:nvSpPr>
          <p:cNvPr id="3" name="Content Placeholder 2">
            <a:extLst>
              <a:ext uri="{FF2B5EF4-FFF2-40B4-BE49-F238E27FC236}">
                <a16:creationId xmlns:a16="http://schemas.microsoft.com/office/drawing/2014/main" id="{6D965DBD-887E-410B-B8E6-85D5633A84AD}"/>
              </a:ext>
            </a:extLst>
          </p:cNvPr>
          <p:cNvSpPr>
            <a:spLocks noGrp="1"/>
          </p:cNvSpPr>
          <p:nvPr>
            <p:ph idx="1"/>
          </p:nvPr>
        </p:nvSpPr>
        <p:spPr>
          <a:xfrm>
            <a:off x="1154954" y="2603499"/>
            <a:ext cx="8825659" cy="3609521"/>
          </a:xfrm>
        </p:spPr>
        <p:txBody>
          <a:bodyPr>
            <a:normAutofit fontScale="92500" lnSpcReduction="10000"/>
          </a:bodyPr>
          <a:lstStyle/>
          <a:p>
            <a:r>
              <a:rPr lang="en-US" dirty="0"/>
              <a:t>The front end is part of the platform that the user interacts with. It's like the "face" of the platform that the user sees and interacts with. The front end of LearnBytes is designed using a tool called LearnBytes, which is a popular design tool that allows for the creation of clean and minimal user interfaces. The front end of LearnBytes has all the necessary pages that an ed-tech platform should have. Some of these pages are:</a:t>
            </a:r>
          </a:p>
          <a:p>
            <a:r>
              <a:rPr lang="en-IN" dirty="0"/>
              <a:t>For Students:</a:t>
            </a:r>
          </a:p>
          <a:p>
            <a:pPr lvl="1">
              <a:buFont typeface="Wingdings" panose="05000000000000000000" pitchFamily="2" charset="2"/>
              <a:buChar char="§"/>
            </a:pPr>
            <a:r>
              <a:rPr lang="en-US" dirty="0"/>
              <a:t>Homepage: This page will have a brief introduction to the platform, as well as links to the course list and user details. </a:t>
            </a:r>
          </a:p>
          <a:p>
            <a:pPr lvl="1">
              <a:buFont typeface="Wingdings" panose="05000000000000000000" pitchFamily="2" charset="2"/>
              <a:buChar char="§"/>
            </a:pPr>
            <a:r>
              <a:rPr lang="en-US" dirty="0"/>
              <a:t>Course List: This page will have a list of all the courses available on the platform, along with their descriptions and ratings. </a:t>
            </a:r>
          </a:p>
          <a:p>
            <a:pPr lvl="1">
              <a:buFont typeface="Wingdings" panose="05000000000000000000" pitchFamily="2" charset="2"/>
              <a:buChar char="§"/>
            </a:pPr>
            <a:r>
              <a:rPr lang="en-US" dirty="0"/>
              <a:t>Wishlist: This page will display all the courses that a student has added to their </a:t>
            </a:r>
            <a:r>
              <a:rPr lang="en-US" dirty="0" err="1"/>
              <a:t>wishlist</a:t>
            </a:r>
            <a:r>
              <a:rPr lang="en-US" dirty="0"/>
              <a:t>. </a:t>
            </a:r>
          </a:p>
          <a:p>
            <a:pPr lvl="1">
              <a:buFont typeface="Wingdings" panose="05000000000000000000" pitchFamily="2" charset="2"/>
              <a:buChar char="§"/>
            </a:pPr>
            <a:r>
              <a:rPr lang="en-US" dirty="0"/>
              <a:t>Cart Checkout: This page will allow the user to complete the course purchase.</a:t>
            </a:r>
            <a:endParaRPr lang="en-IN" dirty="0"/>
          </a:p>
        </p:txBody>
      </p:sp>
    </p:spTree>
    <p:extLst>
      <p:ext uri="{BB962C8B-B14F-4D97-AF65-F5344CB8AC3E}">
        <p14:creationId xmlns:p14="http://schemas.microsoft.com/office/powerpoint/2010/main" val="3975900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29A4-F75F-4C41-8E93-DD81913C27C8}"/>
              </a:ext>
            </a:extLst>
          </p:cNvPr>
          <p:cNvSpPr>
            <a:spLocks noGrp="1"/>
          </p:cNvSpPr>
          <p:nvPr>
            <p:ph type="title"/>
          </p:nvPr>
        </p:nvSpPr>
        <p:spPr>
          <a:xfrm>
            <a:off x="-3257550" y="1216479"/>
            <a:ext cx="122465" cy="440871"/>
          </a:xfrm>
        </p:spPr>
        <p:txBody>
          <a:bodyPr/>
          <a:lstStyle/>
          <a:p>
            <a:endParaRPr lang="en-IN" dirty="0"/>
          </a:p>
        </p:txBody>
      </p:sp>
      <p:sp>
        <p:nvSpPr>
          <p:cNvPr id="3" name="Content Placeholder 2">
            <a:extLst>
              <a:ext uri="{FF2B5EF4-FFF2-40B4-BE49-F238E27FC236}">
                <a16:creationId xmlns:a16="http://schemas.microsoft.com/office/drawing/2014/main" id="{6E4C50EC-FD93-4FEA-87DC-2FBEEF59D3A3}"/>
              </a:ext>
            </a:extLst>
          </p:cNvPr>
          <p:cNvSpPr>
            <a:spLocks noGrp="1"/>
          </p:cNvSpPr>
          <p:nvPr>
            <p:ph idx="1"/>
          </p:nvPr>
        </p:nvSpPr>
        <p:spPr>
          <a:xfrm>
            <a:off x="1683170" y="2906487"/>
            <a:ext cx="8825659" cy="1885950"/>
          </a:xfrm>
        </p:spPr>
        <p:txBody>
          <a:bodyPr/>
          <a:lstStyle/>
          <a:p>
            <a:pPr lvl="1">
              <a:buFont typeface="Wingdings" panose="05000000000000000000" pitchFamily="2" charset="2"/>
              <a:buChar char="§"/>
            </a:pPr>
            <a:r>
              <a:rPr lang="en-US" dirty="0"/>
              <a:t>Course Content: This page will have the course content for a particular course, including videos, and other related material. </a:t>
            </a:r>
          </a:p>
          <a:p>
            <a:pPr lvl="1">
              <a:buFont typeface="Wingdings" panose="05000000000000000000" pitchFamily="2" charset="2"/>
              <a:buChar char="§"/>
            </a:pPr>
            <a:r>
              <a:rPr lang="en-US" dirty="0"/>
              <a:t>User Details: This page will have details about the student's account, including their name, email, and other relevant information. </a:t>
            </a:r>
          </a:p>
          <a:p>
            <a:pPr lvl="1">
              <a:buFont typeface="Wingdings" panose="05000000000000000000" pitchFamily="2" charset="2"/>
              <a:buChar char="§"/>
            </a:pPr>
            <a:r>
              <a:rPr lang="en-US" dirty="0"/>
              <a:t>User Edit Details: This page will allow the student to edit their account details.</a:t>
            </a:r>
            <a:endParaRPr lang="en-IN" dirty="0"/>
          </a:p>
        </p:txBody>
      </p:sp>
    </p:spTree>
    <p:extLst>
      <p:ext uri="{BB962C8B-B14F-4D97-AF65-F5344CB8AC3E}">
        <p14:creationId xmlns:p14="http://schemas.microsoft.com/office/powerpoint/2010/main" val="3328037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E28C7-4578-4356-930B-26872B0CEE99}"/>
              </a:ext>
            </a:extLst>
          </p:cNvPr>
          <p:cNvSpPr>
            <a:spLocks noGrp="1"/>
          </p:cNvSpPr>
          <p:nvPr>
            <p:ph type="title"/>
          </p:nvPr>
        </p:nvSpPr>
        <p:spPr/>
        <p:txBody>
          <a:bodyPr/>
          <a:lstStyle/>
          <a:p>
            <a:r>
              <a:rPr lang="en-US" dirty="0"/>
              <a:t>For Instructors (this is for future scope):</a:t>
            </a:r>
            <a:endParaRPr lang="en-IN" dirty="0"/>
          </a:p>
        </p:txBody>
      </p:sp>
      <p:sp>
        <p:nvSpPr>
          <p:cNvPr id="3" name="Content Placeholder 2">
            <a:extLst>
              <a:ext uri="{FF2B5EF4-FFF2-40B4-BE49-F238E27FC236}">
                <a16:creationId xmlns:a16="http://schemas.microsoft.com/office/drawing/2014/main" id="{D4859417-F518-4BA5-9B71-111DD72D0C8F}"/>
              </a:ext>
            </a:extLst>
          </p:cNvPr>
          <p:cNvSpPr>
            <a:spLocks noGrp="1"/>
          </p:cNvSpPr>
          <p:nvPr>
            <p:ph idx="1"/>
          </p:nvPr>
        </p:nvSpPr>
        <p:spPr/>
        <p:txBody>
          <a:bodyPr/>
          <a:lstStyle/>
          <a:p>
            <a:pPr lvl="1">
              <a:buFont typeface="Wingdings" panose="05000000000000000000" pitchFamily="2" charset="2"/>
              <a:buChar char="§"/>
            </a:pPr>
            <a:r>
              <a:rPr lang="en-US" dirty="0"/>
              <a:t>Dashboard: This page will have an overview of the instructor's courses, as well as the ratings and feedback for each course. </a:t>
            </a:r>
          </a:p>
          <a:p>
            <a:pPr lvl="1">
              <a:buFont typeface="Wingdings" panose="05000000000000000000" pitchFamily="2" charset="2"/>
              <a:buChar char="§"/>
            </a:pPr>
            <a:r>
              <a:rPr lang="en-US" dirty="0"/>
              <a:t>Insights: This page will have detailed insights into the instructor's courses, including the number of views, clicks, and other relevant metrics.</a:t>
            </a:r>
          </a:p>
          <a:p>
            <a:pPr lvl="1">
              <a:buFont typeface="Wingdings" panose="05000000000000000000" pitchFamily="2" charset="2"/>
              <a:buChar char="§"/>
            </a:pPr>
            <a:r>
              <a:rPr lang="en-US" dirty="0"/>
              <a:t>Course Management Pages: These pages will allow the instructor to create, update, and delete courses, as well as manage the course content and pricing. </a:t>
            </a:r>
          </a:p>
          <a:p>
            <a:pPr lvl="1">
              <a:buFont typeface="Wingdings" panose="05000000000000000000" pitchFamily="2" charset="2"/>
              <a:buChar char="§"/>
            </a:pPr>
            <a:r>
              <a:rPr lang="en-US" dirty="0"/>
              <a:t>View and Edit Profile Details: These pages will allow the instructor to view and edit their account details.</a:t>
            </a:r>
            <a:endParaRPr lang="en-IN" dirty="0"/>
          </a:p>
        </p:txBody>
      </p:sp>
    </p:spTree>
    <p:extLst>
      <p:ext uri="{BB962C8B-B14F-4D97-AF65-F5344CB8AC3E}">
        <p14:creationId xmlns:p14="http://schemas.microsoft.com/office/powerpoint/2010/main" val="2762151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BA865-B2D3-4CAA-8805-F8C49C1F4BC6}"/>
              </a:ext>
            </a:extLst>
          </p:cNvPr>
          <p:cNvSpPr>
            <a:spLocks noGrp="1"/>
          </p:cNvSpPr>
          <p:nvPr>
            <p:ph type="title"/>
          </p:nvPr>
        </p:nvSpPr>
        <p:spPr/>
        <p:txBody>
          <a:bodyPr/>
          <a:lstStyle/>
          <a:p>
            <a:r>
              <a:rPr lang="en-US" dirty="0"/>
              <a:t>For Admin (this is for future scope):</a:t>
            </a:r>
            <a:endParaRPr lang="en-IN" dirty="0"/>
          </a:p>
        </p:txBody>
      </p:sp>
      <p:sp>
        <p:nvSpPr>
          <p:cNvPr id="3" name="Content Placeholder 2">
            <a:extLst>
              <a:ext uri="{FF2B5EF4-FFF2-40B4-BE49-F238E27FC236}">
                <a16:creationId xmlns:a16="http://schemas.microsoft.com/office/drawing/2014/main" id="{9804BDA9-289C-491C-9A7A-D12C618418CF}"/>
              </a:ext>
            </a:extLst>
          </p:cNvPr>
          <p:cNvSpPr>
            <a:spLocks noGrp="1"/>
          </p:cNvSpPr>
          <p:nvPr>
            <p:ph idx="1"/>
          </p:nvPr>
        </p:nvSpPr>
        <p:spPr>
          <a:xfrm>
            <a:off x="1154954" y="2603500"/>
            <a:ext cx="8825659" cy="2727779"/>
          </a:xfrm>
        </p:spPr>
        <p:txBody>
          <a:bodyPr/>
          <a:lstStyle/>
          <a:p>
            <a:pPr lvl="1">
              <a:buFont typeface="Wingdings" panose="05000000000000000000" pitchFamily="2" charset="2"/>
              <a:buChar char="§"/>
            </a:pPr>
            <a:r>
              <a:rPr lang="en-US" dirty="0"/>
              <a:t>Dashboard: This page will have an overview of the platform's courses, instructors, and students. </a:t>
            </a:r>
          </a:p>
          <a:p>
            <a:pPr lvl="1">
              <a:buFont typeface="Wingdings" panose="05000000000000000000" pitchFamily="2" charset="2"/>
              <a:buChar char="§"/>
            </a:pPr>
            <a:r>
              <a:rPr lang="en-US" dirty="0"/>
              <a:t>Insights: This page will have detailed insights into the platform's metrics, including the number of registered users, courses, and revenue. </a:t>
            </a:r>
          </a:p>
          <a:p>
            <a:pPr lvl="1">
              <a:buFont typeface="Wingdings" panose="05000000000000000000" pitchFamily="2" charset="2"/>
              <a:buChar char="§"/>
            </a:pPr>
            <a:r>
              <a:rPr lang="en-US" dirty="0"/>
              <a:t>Instructor Management: This page will allow the admin to manage the platform's instructors, including their account details, courses, and ratings. </a:t>
            </a:r>
          </a:p>
          <a:p>
            <a:pPr lvl="1">
              <a:buFont typeface="Wingdings" panose="05000000000000000000" pitchFamily="2" charset="2"/>
              <a:buChar char="§"/>
            </a:pPr>
            <a:r>
              <a:rPr lang="en-US" dirty="0"/>
              <a:t>Other Relevant Pages: The admin will also have access to other relevant pages, such as user management and course management pages. </a:t>
            </a:r>
            <a:endParaRPr lang="en-IN" dirty="0"/>
          </a:p>
        </p:txBody>
      </p:sp>
    </p:spTree>
    <p:extLst>
      <p:ext uri="{BB962C8B-B14F-4D97-AF65-F5344CB8AC3E}">
        <p14:creationId xmlns:p14="http://schemas.microsoft.com/office/powerpoint/2010/main" val="3401548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360C6-50D4-44EC-A5FC-1D532BB50D74}"/>
              </a:ext>
            </a:extLst>
          </p:cNvPr>
          <p:cNvSpPr>
            <a:spLocks noGrp="1"/>
          </p:cNvSpPr>
          <p:nvPr>
            <p:ph type="title"/>
          </p:nvPr>
        </p:nvSpPr>
        <p:spPr/>
        <p:txBody>
          <a:bodyPr/>
          <a:lstStyle/>
          <a:p>
            <a:r>
              <a:rPr lang="en-IN" dirty="0"/>
              <a:t>Back-end </a:t>
            </a:r>
          </a:p>
        </p:txBody>
      </p:sp>
      <p:sp>
        <p:nvSpPr>
          <p:cNvPr id="3" name="Content Placeholder 2">
            <a:extLst>
              <a:ext uri="{FF2B5EF4-FFF2-40B4-BE49-F238E27FC236}">
                <a16:creationId xmlns:a16="http://schemas.microsoft.com/office/drawing/2014/main" id="{8C540A90-2192-4FA4-8F0C-1448C9F8155E}"/>
              </a:ext>
            </a:extLst>
          </p:cNvPr>
          <p:cNvSpPr>
            <a:spLocks noGrp="1"/>
          </p:cNvSpPr>
          <p:nvPr>
            <p:ph idx="1"/>
          </p:nvPr>
        </p:nvSpPr>
        <p:spPr/>
        <p:txBody>
          <a:bodyPr/>
          <a:lstStyle/>
          <a:p>
            <a:r>
              <a:rPr lang="en-US" dirty="0"/>
              <a:t>Description of the Back-end Architecture: </a:t>
            </a:r>
          </a:p>
          <a:p>
            <a:pPr lvl="1">
              <a:buFont typeface="Wingdings" panose="05000000000000000000" pitchFamily="2" charset="2"/>
              <a:buChar char="§"/>
            </a:pPr>
            <a:r>
              <a:rPr lang="en-US" dirty="0"/>
              <a:t>LearnBytes uses a monolithic architecture, with the backend built using Node.js and Express.js, and MongoDB as the primary database. Monolithic architecture refers to a design approach where all the modules of the application are combined into a single large program, with a single codebase, to enable better control, security, and performance.</a:t>
            </a:r>
          </a:p>
          <a:p>
            <a:pPr lvl="1">
              <a:buFont typeface="Wingdings" panose="05000000000000000000" pitchFamily="2" charset="2"/>
              <a:buChar char="§"/>
            </a:pPr>
            <a:r>
              <a:rPr lang="en-US" dirty="0"/>
              <a:t>Node.js is a popular JavaScript runtime that allows us to run JavaScript code outside of the browser. Express.js is a web application framework that simplifies the process of building web applications in Node.js. MongoDB is a popular NoSQL database that allows for flexible data storage and retrieval, making it a suitable choice for complex applications like LearnBytes	</a:t>
            </a:r>
            <a:endParaRPr lang="en-IN" dirty="0"/>
          </a:p>
        </p:txBody>
      </p:sp>
    </p:spTree>
    <p:extLst>
      <p:ext uri="{BB962C8B-B14F-4D97-AF65-F5344CB8AC3E}">
        <p14:creationId xmlns:p14="http://schemas.microsoft.com/office/powerpoint/2010/main" val="2049109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CE6C4-D69F-4957-B1C1-10D5D22D62AB}"/>
              </a:ext>
            </a:extLst>
          </p:cNvPr>
          <p:cNvSpPr>
            <a:spLocks noGrp="1"/>
          </p:cNvSpPr>
          <p:nvPr>
            <p:ph type="title"/>
          </p:nvPr>
        </p:nvSpPr>
        <p:spPr>
          <a:xfrm>
            <a:off x="-3257550" y="973668"/>
            <a:ext cx="163287" cy="706964"/>
          </a:xfrm>
        </p:spPr>
        <p:txBody>
          <a:bodyPr/>
          <a:lstStyle/>
          <a:p>
            <a:endParaRPr lang="en-IN" dirty="0"/>
          </a:p>
        </p:txBody>
      </p:sp>
      <p:sp>
        <p:nvSpPr>
          <p:cNvPr id="3" name="Content Placeholder 2">
            <a:extLst>
              <a:ext uri="{FF2B5EF4-FFF2-40B4-BE49-F238E27FC236}">
                <a16:creationId xmlns:a16="http://schemas.microsoft.com/office/drawing/2014/main" id="{21926DF1-B8DB-44F7-BF94-C70704A4D812}"/>
              </a:ext>
            </a:extLst>
          </p:cNvPr>
          <p:cNvSpPr>
            <a:spLocks noGrp="1"/>
          </p:cNvSpPr>
          <p:nvPr>
            <p:ph idx="1"/>
          </p:nvPr>
        </p:nvSpPr>
        <p:spPr>
          <a:xfrm>
            <a:off x="1154954" y="1379764"/>
            <a:ext cx="8825659" cy="4640036"/>
          </a:xfrm>
        </p:spPr>
        <p:txBody>
          <a:bodyPr>
            <a:normAutofit lnSpcReduction="10000"/>
          </a:bodyPr>
          <a:lstStyle/>
          <a:p>
            <a:r>
              <a:rPr lang="en-US" dirty="0">
                <a:solidFill>
                  <a:schemeClr val="tx2">
                    <a:lumMod val="60000"/>
                    <a:lumOff val="40000"/>
                  </a:schemeClr>
                </a:solidFill>
              </a:rPr>
              <a:t>Features and Functionalities of the Back-end:</a:t>
            </a:r>
          </a:p>
          <a:p>
            <a:endParaRPr lang="en-US" dirty="0">
              <a:solidFill>
                <a:schemeClr val="tx2">
                  <a:lumMod val="60000"/>
                  <a:lumOff val="40000"/>
                </a:schemeClr>
              </a:solidFill>
            </a:endParaRPr>
          </a:p>
          <a:p>
            <a:pPr marL="685800" lvl="1">
              <a:buFont typeface="Wingdings" panose="05000000000000000000" pitchFamily="2" charset="2"/>
              <a:buChar char="§"/>
            </a:pPr>
            <a:r>
              <a:rPr lang="en-US" dirty="0"/>
              <a:t>The back end of LearnBytes provides a range of features and functionalities, including:</a:t>
            </a:r>
          </a:p>
          <a:p>
            <a:pPr marL="1085850" lvl="2" indent="-285750">
              <a:buFont typeface="Arial" panose="020B0604020202020204" pitchFamily="34" charset="0"/>
              <a:buChar char="•"/>
            </a:pPr>
            <a:r>
              <a:rPr lang="en-US" dirty="0"/>
              <a:t>User authentication and authorization: Students and instructors can sign up and log in to the platform using their email addresses and password. The platform also supports OTP (One-Time Password) verification and forgot password functionality for added security. </a:t>
            </a:r>
          </a:p>
          <a:p>
            <a:pPr marL="1085850" lvl="2" indent="-285750">
              <a:buFont typeface="Arial" panose="020B0604020202020204" pitchFamily="34" charset="0"/>
              <a:buChar char="•"/>
            </a:pPr>
            <a:r>
              <a:rPr lang="en-US" dirty="0"/>
              <a:t>Course management: Instructors can create, read, update, and delete courses, as well as manage course content and media. Students can view and rate courses. </a:t>
            </a:r>
          </a:p>
          <a:p>
            <a:pPr marL="1085850" lvl="2" indent="-285750">
              <a:buFont typeface="Arial" panose="020B0604020202020204" pitchFamily="34" charset="0"/>
              <a:buChar char="•"/>
            </a:pPr>
            <a:r>
              <a:rPr lang="en-US" dirty="0"/>
              <a:t>Payment Integration: Students will purchase </a:t>
            </a:r>
            <a:r>
              <a:rPr lang="en-US"/>
              <a:t>and enroll </a:t>
            </a:r>
            <a:r>
              <a:rPr lang="en-US" dirty="0"/>
              <a:t>on courses by completing the checkout flow that is followed by </a:t>
            </a:r>
            <a:r>
              <a:rPr lang="en-US" dirty="0" err="1"/>
              <a:t>Razorpay</a:t>
            </a:r>
            <a:r>
              <a:rPr lang="en-US" dirty="0"/>
              <a:t> integration for payment handling. </a:t>
            </a:r>
          </a:p>
          <a:p>
            <a:pPr marL="1085850" lvl="2" indent="-285750">
              <a:buFont typeface="Arial" panose="020B0604020202020204" pitchFamily="34" charset="0"/>
              <a:buChar char="•"/>
            </a:pPr>
            <a:r>
              <a:rPr lang="en-US" dirty="0"/>
              <a:t>Cloud-based media management: LearnBytes uses Cloudinary, a cloud-based media management service, to store and manage all media content, including images, videos, and documents. </a:t>
            </a:r>
          </a:p>
          <a:p>
            <a:pPr marL="1085850" lvl="2" indent="-285750">
              <a:buFont typeface="Arial" panose="020B0604020202020204" pitchFamily="34" charset="0"/>
              <a:buChar char="•"/>
            </a:pPr>
            <a:r>
              <a:rPr lang="en-US" dirty="0"/>
              <a:t>Markdown formatting: Course content in document format is stored in Markdown format, which allows for easier display and rendering on the front end. </a:t>
            </a:r>
            <a:endParaRPr lang="en-IN" dirty="0">
              <a:solidFill>
                <a:schemeClr val="tx2">
                  <a:lumMod val="60000"/>
                  <a:lumOff val="40000"/>
                </a:schemeClr>
              </a:solidFill>
            </a:endParaRPr>
          </a:p>
        </p:txBody>
      </p:sp>
    </p:spTree>
    <p:extLst>
      <p:ext uri="{BB962C8B-B14F-4D97-AF65-F5344CB8AC3E}">
        <p14:creationId xmlns:p14="http://schemas.microsoft.com/office/powerpoint/2010/main" val="2388547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90DC-D521-4C44-9A0E-70CEBCD019BF}"/>
              </a:ext>
            </a:extLst>
          </p:cNvPr>
          <p:cNvSpPr>
            <a:spLocks noGrp="1"/>
          </p:cNvSpPr>
          <p:nvPr>
            <p:ph type="title"/>
          </p:nvPr>
        </p:nvSpPr>
        <p:spPr>
          <a:xfrm>
            <a:off x="-2963637" y="973668"/>
            <a:ext cx="2424793" cy="706964"/>
          </a:xfrm>
        </p:spPr>
        <p:txBody>
          <a:bodyPr/>
          <a:lstStyle/>
          <a:p>
            <a:endParaRPr lang="en-IN" dirty="0"/>
          </a:p>
        </p:txBody>
      </p:sp>
      <p:sp>
        <p:nvSpPr>
          <p:cNvPr id="3" name="Content Placeholder 2">
            <a:extLst>
              <a:ext uri="{FF2B5EF4-FFF2-40B4-BE49-F238E27FC236}">
                <a16:creationId xmlns:a16="http://schemas.microsoft.com/office/drawing/2014/main" id="{131B493E-E068-4E88-8D4F-B5673A5FBAF3}"/>
              </a:ext>
            </a:extLst>
          </p:cNvPr>
          <p:cNvSpPr>
            <a:spLocks noGrp="1"/>
          </p:cNvSpPr>
          <p:nvPr>
            <p:ph idx="1"/>
          </p:nvPr>
        </p:nvSpPr>
        <p:spPr>
          <a:xfrm>
            <a:off x="1154954" y="1453242"/>
            <a:ext cx="8825659" cy="4566557"/>
          </a:xfrm>
        </p:spPr>
        <p:txBody>
          <a:bodyPr/>
          <a:lstStyle/>
          <a:p>
            <a:r>
              <a:rPr lang="en-US" dirty="0">
                <a:solidFill>
                  <a:schemeClr val="tx2">
                    <a:lumMod val="40000"/>
                    <a:lumOff val="60000"/>
                  </a:schemeClr>
                </a:solidFill>
              </a:rPr>
              <a:t>Frameworks, Libraries, and Tools used:</a:t>
            </a:r>
          </a:p>
          <a:p>
            <a:endParaRPr lang="en-US" dirty="0">
              <a:solidFill>
                <a:schemeClr val="tx2">
                  <a:lumMod val="40000"/>
                  <a:lumOff val="60000"/>
                </a:schemeClr>
              </a:solidFill>
            </a:endParaRPr>
          </a:p>
          <a:p>
            <a:pPr lvl="1">
              <a:buFont typeface="Wingdings" panose="05000000000000000000" pitchFamily="2" charset="2"/>
              <a:buChar char="§"/>
            </a:pPr>
            <a:r>
              <a:rPr lang="en-US" dirty="0"/>
              <a:t>The back end of LearnBytes uses a range of frameworks, libraries, and tools to ensure its functionality and performance, including:</a:t>
            </a:r>
          </a:p>
          <a:p>
            <a:pPr lvl="2">
              <a:buFont typeface="Arial" panose="020B0604020202020204" pitchFamily="34" charset="0"/>
              <a:buChar char="•"/>
            </a:pPr>
            <a:r>
              <a:rPr lang="en-US" dirty="0"/>
              <a:t>Node.js: Node.js is used as the primary framework for the back end. </a:t>
            </a:r>
          </a:p>
          <a:p>
            <a:pPr lvl="2">
              <a:buFont typeface="Arial" panose="020B0604020202020204" pitchFamily="34" charset="0"/>
              <a:buChar char="•"/>
            </a:pPr>
            <a:r>
              <a:rPr lang="en-US" dirty="0"/>
              <a:t>MongoDB: MongoDB is used as the primary database, providing a flexible and scalable data storage solution. </a:t>
            </a:r>
          </a:p>
          <a:p>
            <a:pPr lvl="2">
              <a:buFont typeface="Arial" panose="020B0604020202020204" pitchFamily="34" charset="0"/>
              <a:buChar char="•"/>
            </a:pPr>
            <a:r>
              <a:rPr lang="en-US" dirty="0"/>
              <a:t>Express.js: Express.js is used as a web application framework, providing a range of features and tools for building web applications. </a:t>
            </a:r>
          </a:p>
          <a:p>
            <a:pPr lvl="2">
              <a:buFont typeface="Arial" panose="020B0604020202020204" pitchFamily="34" charset="0"/>
              <a:buChar char="•"/>
            </a:pPr>
            <a:r>
              <a:rPr lang="en-US" dirty="0"/>
              <a:t>JWT: JWT (JSON Web Tokens) are used for authentication and authorization, providing a secure and reliable way to manage user credentials. </a:t>
            </a:r>
          </a:p>
          <a:p>
            <a:pPr lvl="2">
              <a:buFont typeface="Arial" panose="020B0604020202020204" pitchFamily="34" charset="0"/>
              <a:buChar char="•"/>
            </a:pPr>
            <a:r>
              <a:rPr lang="en-US" dirty="0" err="1"/>
              <a:t>Bcrypt</a:t>
            </a:r>
            <a:r>
              <a:rPr lang="en-US" dirty="0"/>
              <a:t>: </a:t>
            </a:r>
            <a:r>
              <a:rPr lang="en-US" dirty="0" err="1"/>
              <a:t>Bcrypt</a:t>
            </a:r>
            <a:r>
              <a:rPr lang="en-US" dirty="0"/>
              <a:t> is used for password hashing, adding an extra layer of security to user data. </a:t>
            </a:r>
          </a:p>
          <a:p>
            <a:pPr lvl="2">
              <a:buFont typeface="Arial" panose="020B0604020202020204" pitchFamily="34" charset="0"/>
              <a:buChar char="•"/>
            </a:pPr>
            <a:r>
              <a:rPr lang="en-US" dirty="0"/>
              <a:t>Mongoose: Mongoose is used as an Object Data Modeling (ODM) library, providing a way to interact with MongoDB using JavaScript.</a:t>
            </a:r>
            <a:endParaRPr lang="en-IN" dirty="0">
              <a:solidFill>
                <a:schemeClr val="tx2">
                  <a:lumMod val="40000"/>
                  <a:lumOff val="60000"/>
                </a:schemeClr>
              </a:solidFill>
            </a:endParaRPr>
          </a:p>
        </p:txBody>
      </p:sp>
    </p:spTree>
    <p:extLst>
      <p:ext uri="{BB962C8B-B14F-4D97-AF65-F5344CB8AC3E}">
        <p14:creationId xmlns:p14="http://schemas.microsoft.com/office/powerpoint/2010/main" val="1471732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4A8B7-99E3-4AD5-A968-26CA64317F82}"/>
              </a:ext>
            </a:extLst>
          </p:cNvPr>
          <p:cNvSpPr>
            <a:spLocks noGrp="1"/>
          </p:cNvSpPr>
          <p:nvPr>
            <p:ph type="title"/>
          </p:nvPr>
        </p:nvSpPr>
        <p:spPr>
          <a:xfrm>
            <a:off x="-3192236" y="973668"/>
            <a:ext cx="57151" cy="706964"/>
          </a:xfrm>
        </p:spPr>
        <p:txBody>
          <a:bodyPr/>
          <a:lstStyle/>
          <a:p>
            <a:endParaRPr lang="en-IN" dirty="0"/>
          </a:p>
        </p:txBody>
      </p:sp>
      <p:sp>
        <p:nvSpPr>
          <p:cNvPr id="3" name="Content Placeholder 2">
            <a:extLst>
              <a:ext uri="{FF2B5EF4-FFF2-40B4-BE49-F238E27FC236}">
                <a16:creationId xmlns:a16="http://schemas.microsoft.com/office/drawing/2014/main" id="{0A8CA14D-8606-4EB3-986E-E549BAF2CF8B}"/>
              </a:ext>
            </a:extLst>
          </p:cNvPr>
          <p:cNvSpPr>
            <a:spLocks noGrp="1"/>
          </p:cNvSpPr>
          <p:nvPr>
            <p:ph idx="1"/>
          </p:nvPr>
        </p:nvSpPr>
        <p:spPr>
          <a:xfrm>
            <a:off x="1154954" y="1404257"/>
            <a:ext cx="8825659" cy="4615543"/>
          </a:xfrm>
        </p:spPr>
        <p:txBody>
          <a:bodyPr/>
          <a:lstStyle/>
          <a:p>
            <a:r>
              <a:rPr lang="en-US" dirty="0">
                <a:solidFill>
                  <a:schemeClr val="tx2">
                    <a:lumMod val="40000"/>
                    <a:lumOff val="60000"/>
                  </a:schemeClr>
                </a:solidFill>
              </a:rPr>
              <a:t>Data Models and Database Schema:</a:t>
            </a:r>
          </a:p>
          <a:p>
            <a:endParaRPr lang="en-US" dirty="0">
              <a:solidFill>
                <a:schemeClr val="tx2">
                  <a:lumMod val="40000"/>
                  <a:lumOff val="60000"/>
                </a:schemeClr>
              </a:solidFill>
            </a:endParaRPr>
          </a:p>
          <a:p>
            <a:pPr lvl="1">
              <a:buFont typeface="Wingdings" panose="05000000000000000000" pitchFamily="2" charset="2"/>
              <a:buChar char="§"/>
            </a:pPr>
            <a:r>
              <a:rPr lang="en-US" dirty="0"/>
              <a:t>The back end of LearnBytes uses a range of data models and database schemas to manage data, including:</a:t>
            </a:r>
          </a:p>
          <a:p>
            <a:pPr lvl="2">
              <a:buFont typeface="Arial" panose="020B0604020202020204" pitchFamily="34" charset="0"/>
              <a:buChar char="•"/>
            </a:pPr>
            <a:r>
              <a:rPr lang="en-US" dirty="0"/>
              <a:t>Student schema: Includes fields such as name, email, password, and course details for each student. </a:t>
            </a:r>
          </a:p>
          <a:p>
            <a:pPr lvl="2">
              <a:buFont typeface="Arial" panose="020B0604020202020204" pitchFamily="34" charset="0"/>
              <a:buChar char="•"/>
            </a:pPr>
            <a:r>
              <a:rPr lang="en-US" dirty="0"/>
              <a:t>Instructor schema: Includes fields such as name, email, password, and course details for each instructor. </a:t>
            </a:r>
          </a:p>
          <a:p>
            <a:pPr lvl="2">
              <a:buFont typeface="Arial" panose="020B0604020202020204" pitchFamily="34" charset="0"/>
              <a:buChar char="•"/>
            </a:pPr>
            <a:r>
              <a:rPr lang="en-US" dirty="0"/>
              <a:t>Course schema: Includes fields such as course name, description, instructor details, and media content.</a:t>
            </a:r>
          </a:p>
          <a:p>
            <a:pPr lvl="1">
              <a:buFont typeface="Wingdings" panose="05000000000000000000" pitchFamily="2" charset="2"/>
              <a:buChar char="§"/>
            </a:pPr>
            <a:r>
              <a:rPr lang="en-US" dirty="0"/>
              <a:t>Overall, the back-end of LearnBytes is designed to provide a robust and scalable solution for an ed-tech platform, with a focus on security, reliability, and ease of use. By using the right frameworks, libraries, and tools, we can ensure that the platform functions smoothly and provides an optimal user experience for all its users.</a:t>
            </a:r>
            <a:endParaRPr lang="en-US" dirty="0">
              <a:solidFill>
                <a:schemeClr val="tx2">
                  <a:lumMod val="40000"/>
                  <a:lumOff val="60000"/>
                </a:schemeClr>
              </a:solidFill>
            </a:endParaRPr>
          </a:p>
        </p:txBody>
      </p:sp>
    </p:spTree>
    <p:extLst>
      <p:ext uri="{BB962C8B-B14F-4D97-AF65-F5344CB8AC3E}">
        <p14:creationId xmlns:p14="http://schemas.microsoft.com/office/powerpoint/2010/main" val="4106621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1C347-A5E4-4AC3-89C0-F75B88D8DF24}"/>
              </a:ext>
            </a:extLst>
          </p:cNvPr>
          <p:cNvSpPr>
            <a:spLocks noGrp="1"/>
          </p:cNvSpPr>
          <p:nvPr>
            <p:ph type="title"/>
          </p:nvPr>
        </p:nvSpPr>
        <p:spPr>
          <a:xfrm>
            <a:off x="-11264900" y="973668"/>
            <a:ext cx="4914901" cy="706964"/>
          </a:xfrm>
        </p:spPr>
        <p:txBody>
          <a:bodyPr/>
          <a:lstStyle/>
          <a:p>
            <a:endParaRPr lang="en-IN" dirty="0"/>
          </a:p>
        </p:txBody>
      </p:sp>
      <p:pic>
        <p:nvPicPr>
          <p:cNvPr id="8" name="Content Placeholder 7">
            <a:extLst>
              <a:ext uri="{FF2B5EF4-FFF2-40B4-BE49-F238E27FC236}">
                <a16:creationId xmlns:a16="http://schemas.microsoft.com/office/drawing/2014/main" id="{F0A63832-80A2-4A19-A577-E529F2FA9F5F}"/>
              </a:ext>
            </a:extLst>
          </p:cNvPr>
          <p:cNvPicPr>
            <a:picLocks noGrp="1" noChangeAspect="1"/>
          </p:cNvPicPr>
          <p:nvPr>
            <p:ph idx="1"/>
          </p:nvPr>
        </p:nvPicPr>
        <p:blipFill>
          <a:blip r:embed="rId2"/>
          <a:stretch>
            <a:fillRect/>
          </a:stretch>
        </p:blipFill>
        <p:spPr>
          <a:xfrm>
            <a:off x="1543051" y="2392136"/>
            <a:ext cx="7682592" cy="3627664"/>
          </a:xfrm>
        </p:spPr>
      </p:pic>
    </p:spTree>
    <p:extLst>
      <p:ext uri="{BB962C8B-B14F-4D97-AF65-F5344CB8AC3E}">
        <p14:creationId xmlns:p14="http://schemas.microsoft.com/office/powerpoint/2010/main" val="633875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40269-5393-4790-B4B0-199BD88D60E8}"/>
              </a:ext>
            </a:extLst>
          </p:cNvPr>
          <p:cNvSpPr>
            <a:spLocks noGrp="1"/>
          </p:cNvSpPr>
          <p:nvPr>
            <p:ph type="title"/>
          </p:nvPr>
        </p:nvSpPr>
        <p:spPr/>
        <p:txBody>
          <a:bodyPr/>
          <a:lstStyle/>
          <a:p>
            <a:r>
              <a:rPr lang="en-US" dirty="0"/>
              <a:t>API Design:</a:t>
            </a:r>
            <a:endParaRPr lang="en-IN" dirty="0"/>
          </a:p>
        </p:txBody>
      </p:sp>
      <p:sp>
        <p:nvSpPr>
          <p:cNvPr id="3" name="Content Placeholder 2">
            <a:extLst>
              <a:ext uri="{FF2B5EF4-FFF2-40B4-BE49-F238E27FC236}">
                <a16:creationId xmlns:a16="http://schemas.microsoft.com/office/drawing/2014/main" id="{C2C1F2BB-FF2B-491E-BF4F-6A3B85919780}"/>
              </a:ext>
            </a:extLst>
          </p:cNvPr>
          <p:cNvSpPr>
            <a:spLocks noGrp="1"/>
          </p:cNvSpPr>
          <p:nvPr>
            <p:ph idx="1"/>
          </p:nvPr>
        </p:nvSpPr>
        <p:spPr>
          <a:xfrm>
            <a:off x="1154954" y="2310493"/>
            <a:ext cx="8825659" cy="4147457"/>
          </a:xfrm>
        </p:spPr>
        <p:txBody>
          <a:bodyPr>
            <a:normAutofit fontScale="85000" lnSpcReduction="20000"/>
          </a:bodyPr>
          <a:lstStyle/>
          <a:p>
            <a:r>
              <a:rPr lang="en-US" sz="1900" dirty="0"/>
              <a:t>The LearnBytes platform's API is designed following the REST architectural style. The API is implemented using Node.js and Express.js. It uses JSON for data exchange and follows standard HTTP request methods such as GET, POST, PUT, and DELETE.</a:t>
            </a:r>
          </a:p>
          <a:p>
            <a:r>
              <a:rPr lang="en-US" dirty="0"/>
              <a:t>Sample list of API endpoints and their functionalities:</a:t>
            </a:r>
          </a:p>
          <a:p>
            <a:pPr marL="628650" lvl="1" indent="-171450">
              <a:buFont typeface="Arial" panose="020B0604020202020204" pitchFamily="34" charset="0"/>
              <a:buChar char="•"/>
            </a:pPr>
            <a:r>
              <a:rPr lang="en-US" dirty="0">
                <a:solidFill>
                  <a:schemeClr val="tx1">
                    <a:lumMod val="65000"/>
                    <a:lumOff val="35000"/>
                  </a:schemeClr>
                </a:solidFill>
              </a:rPr>
              <a:t>/</a:t>
            </a:r>
            <a:r>
              <a:rPr lang="en-US" dirty="0" err="1">
                <a:solidFill>
                  <a:schemeClr val="tx1">
                    <a:lumMod val="65000"/>
                    <a:lumOff val="35000"/>
                  </a:schemeClr>
                </a:solidFill>
              </a:rPr>
              <a:t>api</a:t>
            </a:r>
            <a:r>
              <a:rPr lang="en-US" dirty="0">
                <a:solidFill>
                  <a:schemeClr val="tx1">
                    <a:lumMod val="65000"/>
                    <a:lumOff val="35000"/>
                  </a:schemeClr>
                </a:solidFill>
              </a:rPr>
              <a:t>/auth/signup (POST) - Create a new user (student or instructor) account. </a:t>
            </a:r>
          </a:p>
          <a:p>
            <a:pPr marL="628650" lvl="1" indent="-171450">
              <a:buFont typeface="Arial" panose="020B0604020202020204" pitchFamily="34" charset="0"/>
              <a:buChar char="•"/>
            </a:pPr>
            <a:r>
              <a:rPr lang="en-US" dirty="0">
                <a:solidFill>
                  <a:schemeClr val="tx1">
                    <a:lumMod val="65000"/>
                    <a:lumOff val="35000"/>
                  </a:schemeClr>
                </a:solidFill>
              </a:rPr>
              <a:t>/</a:t>
            </a:r>
            <a:r>
              <a:rPr lang="en-US" dirty="0" err="1">
                <a:solidFill>
                  <a:schemeClr val="tx1">
                    <a:lumMod val="65000"/>
                    <a:lumOff val="35000"/>
                  </a:schemeClr>
                </a:solidFill>
              </a:rPr>
              <a:t>api</a:t>
            </a:r>
            <a:r>
              <a:rPr lang="en-US" dirty="0">
                <a:solidFill>
                  <a:schemeClr val="tx1">
                    <a:lumMod val="65000"/>
                    <a:lumOff val="35000"/>
                  </a:schemeClr>
                </a:solidFill>
              </a:rPr>
              <a:t>/auth/login (POST) – Log in using existing credentials and generate a JWT token.</a:t>
            </a:r>
          </a:p>
          <a:p>
            <a:pPr marL="628650" lvl="1" indent="-171450">
              <a:buFont typeface="Arial" panose="020B0604020202020204" pitchFamily="34" charset="0"/>
              <a:buChar char="•"/>
            </a:pPr>
            <a:r>
              <a:rPr lang="en-US" dirty="0">
                <a:solidFill>
                  <a:schemeClr val="tx1">
                    <a:lumMod val="65000"/>
                    <a:lumOff val="35000"/>
                  </a:schemeClr>
                </a:solidFill>
              </a:rPr>
              <a:t>/</a:t>
            </a:r>
            <a:r>
              <a:rPr lang="en-US" dirty="0" err="1">
                <a:solidFill>
                  <a:schemeClr val="tx1">
                    <a:lumMod val="65000"/>
                    <a:lumOff val="35000"/>
                  </a:schemeClr>
                </a:solidFill>
              </a:rPr>
              <a:t>api</a:t>
            </a:r>
            <a:r>
              <a:rPr lang="en-US" dirty="0">
                <a:solidFill>
                  <a:schemeClr val="tx1">
                    <a:lumMod val="65000"/>
                    <a:lumOff val="35000"/>
                  </a:schemeClr>
                </a:solidFill>
              </a:rPr>
              <a:t>/auth/verify-</a:t>
            </a:r>
            <a:r>
              <a:rPr lang="en-US" dirty="0" err="1">
                <a:solidFill>
                  <a:schemeClr val="tx1">
                    <a:lumMod val="65000"/>
                    <a:lumOff val="35000"/>
                  </a:schemeClr>
                </a:solidFill>
              </a:rPr>
              <a:t>otp</a:t>
            </a:r>
            <a:r>
              <a:rPr lang="en-US" dirty="0">
                <a:solidFill>
                  <a:schemeClr val="tx1">
                    <a:lumMod val="65000"/>
                    <a:lumOff val="35000"/>
                  </a:schemeClr>
                </a:solidFill>
              </a:rPr>
              <a:t> (POST) - Verify the OTP sent to the user's registered email. </a:t>
            </a:r>
          </a:p>
          <a:p>
            <a:pPr marL="628650" lvl="1" indent="-171450">
              <a:buFont typeface="Arial" panose="020B0604020202020204" pitchFamily="34" charset="0"/>
              <a:buChar char="•"/>
            </a:pPr>
            <a:r>
              <a:rPr lang="en-US" dirty="0">
                <a:solidFill>
                  <a:schemeClr val="tx1">
                    <a:lumMod val="65000"/>
                    <a:lumOff val="35000"/>
                  </a:schemeClr>
                </a:solidFill>
              </a:rPr>
              <a:t>/</a:t>
            </a:r>
            <a:r>
              <a:rPr lang="en-US" dirty="0" err="1">
                <a:solidFill>
                  <a:schemeClr val="tx1">
                    <a:lumMod val="65000"/>
                    <a:lumOff val="35000"/>
                  </a:schemeClr>
                </a:solidFill>
              </a:rPr>
              <a:t>api</a:t>
            </a:r>
            <a:r>
              <a:rPr lang="en-US" dirty="0">
                <a:solidFill>
                  <a:schemeClr val="tx1">
                    <a:lumMod val="65000"/>
                    <a:lumOff val="35000"/>
                  </a:schemeClr>
                </a:solidFill>
              </a:rPr>
              <a:t>/auth/forgot-password (POST) - Send an email with a password reset link to the registered email. </a:t>
            </a:r>
          </a:p>
          <a:p>
            <a:pPr marL="628650" lvl="1" indent="-171450">
              <a:buFont typeface="Arial" panose="020B0604020202020204" pitchFamily="34" charset="0"/>
              <a:buChar char="•"/>
            </a:pPr>
            <a:r>
              <a:rPr lang="en-US" dirty="0">
                <a:solidFill>
                  <a:schemeClr val="tx1">
                    <a:lumMod val="65000"/>
                    <a:lumOff val="35000"/>
                  </a:schemeClr>
                </a:solidFill>
              </a:rPr>
              <a:t>/</a:t>
            </a:r>
            <a:r>
              <a:rPr lang="en-US" dirty="0" err="1">
                <a:solidFill>
                  <a:schemeClr val="tx1">
                    <a:lumMod val="65000"/>
                    <a:lumOff val="35000"/>
                  </a:schemeClr>
                </a:solidFill>
              </a:rPr>
              <a:t>api</a:t>
            </a:r>
            <a:r>
              <a:rPr lang="en-US" dirty="0">
                <a:solidFill>
                  <a:schemeClr val="tx1">
                    <a:lumMod val="65000"/>
                    <a:lumOff val="35000"/>
                  </a:schemeClr>
                </a:solidFill>
              </a:rPr>
              <a:t>/courses (GET) - Get a list of all available courses. </a:t>
            </a:r>
          </a:p>
          <a:p>
            <a:pPr marL="628650" lvl="1" indent="-171450">
              <a:buFont typeface="Arial" panose="020B0604020202020204" pitchFamily="34" charset="0"/>
              <a:buChar char="•"/>
            </a:pPr>
            <a:r>
              <a:rPr lang="en-US" dirty="0">
                <a:solidFill>
                  <a:schemeClr val="tx1">
                    <a:lumMod val="65000"/>
                    <a:lumOff val="35000"/>
                  </a:schemeClr>
                </a:solidFill>
              </a:rPr>
              <a:t>/</a:t>
            </a:r>
            <a:r>
              <a:rPr lang="en-US" dirty="0" err="1">
                <a:solidFill>
                  <a:schemeClr val="tx1">
                    <a:lumMod val="65000"/>
                    <a:lumOff val="35000"/>
                  </a:schemeClr>
                </a:solidFill>
              </a:rPr>
              <a:t>api</a:t>
            </a:r>
            <a:r>
              <a:rPr lang="en-US" dirty="0">
                <a:solidFill>
                  <a:schemeClr val="tx1">
                    <a:lumMod val="65000"/>
                    <a:lumOff val="35000"/>
                  </a:schemeClr>
                </a:solidFill>
              </a:rPr>
              <a:t>/courses/:id (GET) - Get details of a specific course by ID. </a:t>
            </a:r>
          </a:p>
          <a:p>
            <a:pPr marL="628650" lvl="1" indent="-171450">
              <a:buFont typeface="Arial" panose="020B0604020202020204" pitchFamily="34" charset="0"/>
              <a:buChar char="•"/>
            </a:pPr>
            <a:r>
              <a:rPr lang="en-US" dirty="0">
                <a:solidFill>
                  <a:schemeClr val="tx1">
                    <a:lumMod val="65000"/>
                    <a:lumOff val="35000"/>
                  </a:schemeClr>
                </a:solidFill>
              </a:rPr>
              <a:t>/</a:t>
            </a:r>
            <a:r>
              <a:rPr lang="en-US" dirty="0" err="1">
                <a:solidFill>
                  <a:schemeClr val="tx1">
                    <a:lumMod val="65000"/>
                    <a:lumOff val="35000"/>
                  </a:schemeClr>
                </a:solidFill>
              </a:rPr>
              <a:t>api</a:t>
            </a:r>
            <a:r>
              <a:rPr lang="en-US" dirty="0">
                <a:solidFill>
                  <a:schemeClr val="tx1">
                    <a:lumMod val="65000"/>
                    <a:lumOff val="35000"/>
                  </a:schemeClr>
                </a:solidFill>
              </a:rPr>
              <a:t>/courses (POST) - Create a new course. </a:t>
            </a:r>
          </a:p>
          <a:p>
            <a:pPr marL="628650" lvl="1" indent="-171450">
              <a:buFont typeface="Arial" panose="020B0604020202020204" pitchFamily="34" charset="0"/>
              <a:buChar char="•"/>
            </a:pPr>
            <a:r>
              <a:rPr lang="en-US" dirty="0">
                <a:solidFill>
                  <a:schemeClr val="tx1">
                    <a:lumMod val="65000"/>
                    <a:lumOff val="35000"/>
                  </a:schemeClr>
                </a:solidFill>
              </a:rPr>
              <a:t>/</a:t>
            </a:r>
            <a:r>
              <a:rPr lang="en-US" dirty="0" err="1">
                <a:solidFill>
                  <a:schemeClr val="tx1">
                    <a:lumMod val="65000"/>
                    <a:lumOff val="35000"/>
                  </a:schemeClr>
                </a:solidFill>
              </a:rPr>
              <a:t>api</a:t>
            </a:r>
            <a:r>
              <a:rPr lang="en-US" dirty="0">
                <a:solidFill>
                  <a:schemeClr val="tx1">
                    <a:lumMod val="65000"/>
                    <a:lumOff val="35000"/>
                  </a:schemeClr>
                </a:solidFill>
              </a:rPr>
              <a:t>/courses/:id (PUT) - Update an existing course by ID. </a:t>
            </a:r>
          </a:p>
          <a:p>
            <a:pPr marL="628650" lvl="1" indent="-171450">
              <a:buFont typeface="Arial" panose="020B0604020202020204" pitchFamily="34" charset="0"/>
              <a:buChar char="•"/>
            </a:pPr>
            <a:r>
              <a:rPr lang="en-US" dirty="0">
                <a:solidFill>
                  <a:schemeClr val="tx1">
                    <a:lumMod val="65000"/>
                    <a:lumOff val="35000"/>
                  </a:schemeClr>
                </a:solidFill>
              </a:rPr>
              <a:t>/</a:t>
            </a:r>
            <a:r>
              <a:rPr lang="en-US" dirty="0" err="1">
                <a:solidFill>
                  <a:schemeClr val="tx1">
                    <a:lumMod val="65000"/>
                    <a:lumOff val="35000"/>
                  </a:schemeClr>
                </a:solidFill>
              </a:rPr>
              <a:t>api</a:t>
            </a:r>
            <a:r>
              <a:rPr lang="en-US" dirty="0">
                <a:solidFill>
                  <a:schemeClr val="tx1">
                    <a:lumMod val="65000"/>
                    <a:lumOff val="35000"/>
                  </a:schemeClr>
                </a:solidFill>
              </a:rPr>
              <a:t>/courses/:id (DELETE) - Delete a course by ID. </a:t>
            </a:r>
          </a:p>
          <a:p>
            <a:pPr marL="628650" lvl="1" indent="-171450">
              <a:buFont typeface="Arial" panose="020B0604020202020204" pitchFamily="34" charset="0"/>
              <a:buChar char="•"/>
            </a:pPr>
            <a:r>
              <a:rPr lang="en-US" dirty="0">
                <a:solidFill>
                  <a:schemeClr val="tx1">
                    <a:lumMod val="65000"/>
                    <a:lumOff val="35000"/>
                  </a:schemeClr>
                </a:solidFill>
              </a:rPr>
              <a:t>/</a:t>
            </a:r>
            <a:r>
              <a:rPr lang="en-US" dirty="0" err="1">
                <a:solidFill>
                  <a:schemeClr val="tx1">
                    <a:lumMod val="65000"/>
                    <a:lumOff val="35000"/>
                  </a:schemeClr>
                </a:solidFill>
              </a:rPr>
              <a:t>api</a:t>
            </a:r>
            <a:r>
              <a:rPr lang="en-US" dirty="0">
                <a:solidFill>
                  <a:schemeClr val="tx1">
                    <a:lumMod val="65000"/>
                    <a:lumOff val="35000"/>
                  </a:schemeClr>
                </a:solidFill>
              </a:rPr>
              <a:t>/courses/:id/rate (POST) - Add a rating (out of 5) to a course. </a:t>
            </a:r>
            <a:endParaRPr lang="en-IN" dirty="0">
              <a:solidFill>
                <a:schemeClr val="tx1">
                  <a:lumMod val="65000"/>
                  <a:lumOff val="35000"/>
                </a:schemeClr>
              </a:solidFill>
            </a:endParaRPr>
          </a:p>
          <a:p>
            <a:endParaRPr lang="en-IN" dirty="0"/>
          </a:p>
        </p:txBody>
      </p:sp>
    </p:spTree>
    <p:extLst>
      <p:ext uri="{BB962C8B-B14F-4D97-AF65-F5344CB8AC3E}">
        <p14:creationId xmlns:p14="http://schemas.microsoft.com/office/powerpoint/2010/main" val="3953952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97CA-78AF-4CCA-A6F9-48F25DAD3E2D}"/>
              </a:ext>
            </a:extLst>
          </p:cNvPr>
          <p:cNvSpPr>
            <a:spLocks noGrp="1"/>
          </p:cNvSpPr>
          <p:nvPr>
            <p:ph type="title"/>
          </p:nvPr>
        </p:nvSpPr>
        <p:spPr>
          <a:xfrm>
            <a:off x="-3192236" y="973668"/>
            <a:ext cx="57150" cy="706964"/>
          </a:xfrm>
        </p:spPr>
        <p:txBody>
          <a:bodyPr/>
          <a:lstStyle/>
          <a:p>
            <a:endParaRPr lang="en-IN" dirty="0"/>
          </a:p>
        </p:txBody>
      </p:sp>
      <p:sp>
        <p:nvSpPr>
          <p:cNvPr id="3" name="Content Placeholder 2">
            <a:extLst>
              <a:ext uri="{FF2B5EF4-FFF2-40B4-BE49-F238E27FC236}">
                <a16:creationId xmlns:a16="http://schemas.microsoft.com/office/drawing/2014/main" id="{9334485D-BD84-4ADA-BE18-DFCA0B4FE748}"/>
              </a:ext>
            </a:extLst>
          </p:cNvPr>
          <p:cNvSpPr>
            <a:spLocks noGrp="1"/>
          </p:cNvSpPr>
          <p:nvPr>
            <p:ph idx="1"/>
          </p:nvPr>
        </p:nvSpPr>
        <p:spPr>
          <a:xfrm>
            <a:off x="1154954" y="1412421"/>
            <a:ext cx="8825659" cy="4607379"/>
          </a:xfrm>
        </p:spPr>
        <p:txBody>
          <a:bodyPr/>
          <a:lstStyle/>
          <a:p>
            <a:r>
              <a:rPr lang="en-US" dirty="0">
                <a:solidFill>
                  <a:schemeClr val="tx2">
                    <a:lumMod val="40000"/>
                    <a:lumOff val="60000"/>
                  </a:schemeClr>
                </a:solidFill>
              </a:rPr>
              <a:t>Sample API requests and responses: </a:t>
            </a:r>
          </a:p>
          <a:p>
            <a:endParaRPr lang="en-US" dirty="0">
              <a:solidFill>
                <a:schemeClr val="tx2">
                  <a:lumMod val="40000"/>
                  <a:lumOff val="60000"/>
                </a:schemeClr>
              </a:solidFill>
            </a:endParaRPr>
          </a:p>
          <a:p>
            <a:pPr lvl="1">
              <a:buFont typeface="Wingdings" panose="05000000000000000000" pitchFamily="2" charset="2"/>
              <a:buChar char="§"/>
            </a:pPr>
            <a:r>
              <a:rPr lang="en-US" dirty="0"/>
              <a:t>GET /</a:t>
            </a:r>
            <a:r>
              <a:rPr lang="en-US" dirty="0" err="1"/>
              <a:t>api</a:t>
            </a:r>
            <a:r>
              <a:rPr lang="en-US" dirty="0"/>
              <a:t>/courses: Get all courses o Response: A list of all courses in the database </a:t>
            </a:r>
          </a:p>
          <a:p>
            <a:pPr lvl="1">
              <a:buFont typeface="Wingdings" panose="05000000000000000000" pitchFamily="2" charset="2"/>
              <a:buChar char="§"/>
            </a:pPr>
            <a:r>
              <a:rPr lang="en-US" dirty="0"/>
              <a:t>GET /</a:t>
            </a:r>
            <a:r>
              <a:rPr lang="en-US" dirty="0" err="1"/>
              <a:t>api</a:t>
            </a:r>
            <a:r>
              <a:rPr lang="en-US" dirty="0"/>
              <a:t>/courses/:id: Get a single course by ID </a:t>
            </a:r>
          </a:p>
          <a:p>
            <a:pPr lvl="2">
              <a:buFont typeface="Arial" panose="020B0604020202020204" pitchFamily="34" charset="0"/>
              <a:buChar char="•"/>
            </a:pPr>
            <a:r>
              <a:rPr lang="en-US" dirty="0"/>
              <a:t>Response: The course with the specified ID </a:t>
            </a:r>
          </a:p>
          <a:p>
            <a:pPr lvl="1">
              <a:buFont typeface="Wingdings" panose="05000000000000000000" pitchFamily="2" charset="2"/>
              <a:buChar char="§"/>
            </a:pPr>
            <a:r>
              <a:rPr lang="en-US" dirty="0"/>
              <a:t>POST /</a:t>
            </a:r>
            <a:r>
              <a:rPr lang="en-US" dirty="0" err="1"/>
              <a:t>api</a:t>
            </a:r>
            <a:r>
              <a:rPr lang="en-US" dirty="0"/>
              <a:t>/courses: Create a new course </a:t>
            </a:r>
          </a:p>
          <a:p>
            <a:pPr lvl="2">
              <a:buFont typeface="Arial" panose="020B0604020202020204" pitchFamily="34" charset="0"/>
              <a:buChar char="•"/>
            </a:pPr>
            <a:r>
              <a:rPr lang="en-US" dirty="0"/>
              <a:t>Request: The course details in the request body</a:t>
            </a:r>
          </a:p>
          <a:p>
            <a:pPr lvl="1">
              <a:buFont typeface="Wingdings" panose="05000000000000000000" pitchFamily="2" charset="2"/>
              <a:buChar char="§"/>
            </a:pPr>
            <a:r>
              <a:rPr lang="en-US" dirty="0"/>
              <a:t>PUT /</a:t>
            </a:r>
            <a:r>
              <a:rPr lang="en-US" dirty="0" err="1"/>
              <a:t>api</a:t>
            </a:r>
            <a:r>
              <a:rPr lang="en-US" dirty="0"/>
              <a:t>/courses/:id: Update an existing course by ID </a:t>
            </a:r>
          </a:p>
          <a:p>
            <a:pPr lvl="2">
              <a:buFont typeface="Arial" panose="020B0604020202020204" pitchFamily="34" charset="0"/>
              <a:buChar char="•"/>
            </a:pPr>
            <a:r>
              <a:rPr lang="en-US" dirty="0"/>
              <a:t>Request: The updated course details in the request body o Response: The updated course </a:t>
            </a:r>
          </a:p>
          <a:p>
            <a:pPr lvl="1">
              <a:buFont typeface="Wingdings" panose="05000000000000000000" pitchFamily="2" charset="2"/>
              <a:buChar char="§"/>
            </a:pPr>
            <a:r>
              <a:rPr lang="en-US" dirty="0"/>
              <a:t>DELETE /</a:t>
            </a:r>
            <a:r>
              <a:rPr lang="en-US" dirty="0" err="1"/>
              <a:t>api</a:t>
            </a:r>
            <a:r>
              <a:rPr lang="en-US" dirty="0"/>
              <a:t>/courses/:id: Delete a course by ID </a:t>
            </a:r>
          </a:p>
          <a:p>
            <a:pPr lvl="2">
              <a:buFont typeface="Arial" panose="020B0604020202020204" pitchFamily="34" charset="0"/>
              <a:buChar char="•"/>
            </a:pPr>
            <a:r>
              <a:rPr lang="en-US" dirty="0"/>
              <a:t>Response: A success message indicating that the course has been deleted.</a:t>
            </a:r>
            <a:endParaRPr lang="en-US" dirty="0">
              <a:solidFill>
                <a:schemeClr val="tx2">
                  <a:lumMod val="40000"/>
                  <a:lumOff val="60000"/>
                </a:schemeClr>
              </a:solidFill>
            </a:endParaRPr>
          </a:p>
          <a:p>
            <a:pPr lvl="1">
              <a:buFont typeface="Wingdings" panose="05000000000000000000" pitchFamily="2" charset="2"/>
              <a:buChar char="§"/>
            </a:pPr>
            <a:endParaRPr lang="en-IN" dirty="0">
              <a:solidFill>
                <a:schemeClr val="tx2">
                  <a:lumMod val="40000"/>
                  <a:lumOff val="60000"/>
                </a:schemeClr>
              </a:solidFill>
            </a:endParaRPr>
          </a:p>
        </p:txBody>
      </p:sp>
    </p:spTree>
    <p:extLst>
      <p:ext uri="{BB962C8B-B14F-4D97-AF65-F5344CB8AC3E}">
        <p14:creationId xmlns:p14="http://schemas.microsoft.com/office/powerpoint/2010/main" val="385394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9803D-45DB-4E33-B1E3-1E7EFF4DD864}"/>
              </a:ext>
            </a:extLst>
          </p:cNvPr>
          <p:cNvSpPr>
            <a:spLocks noGrp="1"/>
          </p:cNvSpPr>
          <p:nvPr>
            <p:ph type="title"/>
          </p:nvPr>
        </p:nvSpPr>
        <p:spPr/>
        <p:txBody>
          <a:bodyPr/>
          <a:lstStyle/>
          <a:p>
            <a:r>
              <a:rPr lang="en-IN" dirty="0"/>
              <a:t>Future Enhancements: </a:t>
            </a:r>
          </a:p>
        </p:txBody>
      </p:sp>
      <p:sp>
        <p:nvSpPr>
          <p:cNvPr id="3" name="Content Placeholder 2">
            <a:extLst>
              <a:ext uri="{FF2B5EF4-FFF2-40B4-BE49-F238E27FC236}">
                <a16:creationId xmlns:a16="http://schemas.microsoft.com/office/drawing/2014/main" id="{6470FEF8-DD86-4F01-81C3-8CD7BC070720}"/>
              </a:ext>
            </a:extLst>
          </p:cNvPr>
          <p:cNvSpPr>
            <a:spLocks noGrp="1"/>
          </p:cNvSpPr>
          <p:nvPr>
            <p:ph idx="1"/>
          </p:nvPr>
        </p:nvSpPr>
        <p:spPr/>
        <p:txBody>
          <a:bodyPr>
            <a:normAutofit lnSpcReduction="10000"/>
          </a:bodyPr>
          <a:lstStyle/>
          <a:p>
            <a:r>
              <a:rPr lang="en-US" dirty="0"/>
              <a:t>This section discusses potential future improvements to the LearnBytes platform. These enhancements are listed along with an explanation of how they would improve the platform and priority for implementation. </a:t>
            </a:r>
          </a:p>
          <a:p>
            <a:pPr lvl="1">
              <a:buFont typeface="Wingdings" panose="05000000000000000000" pitchFamily="2" charset="2"/>
              <a:buChar char="§"/>
            </a:pPr>
            <a:r>
              <a:rPr lang="en-US" dirty="0"/>
              <a:t> Gamification features: Adding gamification features such as badges, points, and leaderboards can increase user engagement and motivation. This would be a medium-priority enhancement. </a:t>
            </a:r>
          </a:p>
          <a:p>
            <a:pPr lvl="1">
              <a:buFont typeface="Wingdings" panose="05000000000000000000" pitchFamily="2" charset="2"/>
              <a:buChar char="§"/>
            </a:pPr>
            <a:r>
              <a:rPr lang="en-US" dirty="0"/>
              <a:t>Personalized learning paths: Creating personalized learning paths for each student based on their interests and learning style can increase student satisfaction and success. This would be a </a:t>
            </a:r>
            <a:r>
              <a:rPr lang="en-US" dirty="0" err="1"/>
              <a:t>highpriority</a:t>
            </a:r>
            <a:r>
              <a:rPr lang="en-US" dirty="0"/>
              <a:t> enhancement. </a:t>
            </a:r>
          </a:p>
          <a:p>
            <a:pPr lvl="1">
              <a:buFont typeface="Wingdings" panose="05000000000000000000" pitchFamily="2" charset="2"/>
              <a:buChar char="§"/>
            </a:pPr>
            <a:r>
              <a:rPr lang="en-US" dirty="0"/>
              <a:t>Social learning features: Adding social learning features such as group discussions, peer-to-peer feedback, and collaborative projects can increase student engagement and interaction. This would be a medium-priority enhancement</a:t>
            </a:r>
            <a:endParaRPr lang="en-IN" dirty="0"/>
          </a:p>
        </p:txBody>
      </p:sp>
    </p:spTree>
    <p:extLst>
      <p:ext uri="{BB962C8B-B14F-4D97-AF65-F5344CB8AC3E}">
        <p14:creationId xmlns:p14="http://schemas.microsoft.com/office/powerpoint/2010/main" val="3049840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B6D23-C30C-436F-A792-A593F9BE4E16}"/>
              </a:ext>
            </a:extLst>
          </p:cNvPr>
          <p:cNvSpPr>
            <a:spLocks noGrp="1"/>
          </p:cNvSpPr>
          <p:nvPr>
            <p:ph type="title"/>
          </p:nvPr>
        </p:nvSpPr>
        <p:spPr>
          <a:xfrm flipH="1">
            <a:off x="-3135085" y="973668"/>
            <a:ext cx="2000249" cy="706964"/>
          </a:xfrm>
        </p:spPr>
        <p:txBody>
          <a:bodyPr/>
          <a:lstStyle/>
          <a:p>
            <a:endParaRPr lang="en-IN" dirty="0"/>
          </a:p>
        </p:txBody>
      </p:sp>
      <p:sp>
        <p:nvSpPr>
          <p:cNvPr id="3" name="Content Placeholder 2">
            <a:extLst>
              <a:ext uri="{FF2B5EF4-FFF2-40B4-BE49-F238E27FC236}">
                <a16:creationId xmlns:a16="http://schemas.microsoft.com/office/drawing/2014/main" id="{D575EC6F-55C6-4D88-BF7E-9168DEFA0750}"/>
              </a:ext>
            </a:extLst>
          </p:cNvPr>
          <p:cNvSpPr>
            <a:spLocks noGrp="1"/>
          </p:cNvSpPr>
          <p:nvPr>
            <p:ph idx="1"/>
          </p:nvPr>
        </p:nvSpPr>
        <p:spPr>
          <a:xfrm>
            <a:off x="1154954" y="1298121"/>
            <a:ext cx="8825659" cy="4721679"/>
          </a:xfrm>
        </p:spPr>
        <p:txBody>
          <a:bodyPr/>
          <a:lstStyle/>
          <a:p>
            <a:pPr lvl="1">
              <a:buFont typeface="Wingdings" panose="05000000000000000000" pitchFamily="2" charset="2"/>
              <a:buChar char="§"/>
            </a:pPr>
            <a:r>
              <a:rPr lang="en-US" dirty="0">
                <a:solidFill>
                  <a:schemeClr val="tx2">
                    <a:lumMod val="40000"/>
                    <a:lumOff val="60000"/>
                  </a:schemeClr>
                </a:solidFill>
              </a:rPr>
              <a:t>Mobile app: Creating a mobile app for the platform would allow for more convenient access to course content and features, and would increase the platform's reach. This would be a </a:t>
            </a:r>
            <a:r>
              <a:rPr lang="en-US" dirty="0" err="1">
                <a:solidFill>
                  <a:schemeClr val="tx2">
                    <a:lumMod val="40000"/>
                    <a:lumOff val="60000"/>
                  </a:schemeClr>
                </a:solidFill>
              </a:rPr>
              <a:t>highpriority</a:t>
            </a:r>
            <a:r>
              <a:rPr lang="en-US" dirty="0">
                <a:solidFill>
                  <a:schemeClr val="tx2">
                    <a:lumMod val="40000"/>
                    <a:lumOff val="60000"/>
                  </a:schemeClr>
                </a:solidFill>
              </a:rPr>
              <a:t> enhancement. </a:t>
            </a:r>
          </a:p>
          <a:p>
            <a:pPr lvl="1">
              <a:buFont typeface="Wingdings" panose="05000000000000000000" pitchFamily="2" charset="2"/>
              <a:buChar char="§"/>
            </a:pPr>
            <a:r>
              <a:rPr lang="en-US" dirty="0"/>
              <a:t>Machine learning-powered recommendations: Using machine learning algorithms to provide personalized course recommendations can improve student engagement and satisfaction. This would be a medium to </a:t>
            </a:r>
            <a:r>
              <a:rPr lang="en-US" dirty="0" err="1"/>
              <a:t>highpriority</a:t>
            </a:r>
            <a:r>
              <a:rPr lang="en-US" dirty="0"/>
              <a:t> enhancement. </a:t>
            </a:r>
          </a:p>
          <a:p>
            <a:pPr lvl="1">
              <a:buFont typeface="Wingdings" panose="05000000000000000000" pitchFamily="2" charset="2"/>
              <a:buChar char="§"/>
            </a:pPr>
            <a:r>
              <a:rPr lang="en-US" dirty="0"/>
              <a:t>Virtual reality/augmented reality integration: Adding virtual reality or augmented reality components to certain courses can enhance the learning experience and make it more immersive. This would be low to </a:t>
            </a:r>
            <a:r>
              <a:rPr lang="en-US" dirty="0" err="1"/>
              <a:t>mediumpriority</a:t>
            </a:r>
            <a:r>
              <a:rPr lang="en-US" dirty="0"/>
              <a:t> enhancement.</a:t>
            </a:r>
          </a:p>
          <a:p>
            <a:pPr indent="-285750"/>
            <a:r>
              <a:rPr lang="en-US" dirty="0"/>
              <a:t>Overall, these enhancements would significantly improve the LearnBytes platform and its offerings to students, instructors, and administrators. The implementation timeline and priority would depend on various factors such as the resources available and the specific needs and goals of the platform.</a:t>
            </a:r>
            <a:endParaRPr lang="en-IN" dirty="0"/>
          </a:p>
        </p:txBody>
      </p:sp>
    </p:spTree>
    <p:extLst>
      <p:ext uri="{BB962C8B-B14F-4D97-AF65-F5344CB8AC3E}">
        <p14:creationId xmlns:p14="http://schemas.microsoft.com/office/powerpoint/2010/main" val="2862861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75EC6-F24B-4046-9A98-AB95EEB28E15}"/>
              </a:ext>
            </a:extLst>
          </p:cNvPr>
          <p:cNvSpPr>
            <a:spLocks noGrp="1"/>
          </p:cNvSpPr>
          <p:nvPr>
            <p:ph type="title"/>
          </p:nvPr>
        </p:nvSpPr>
        <p:spPr/>
        <p:txBody>
          <a:bodyPr/>
          <a:lstStyle/>
          <a:p>
            <a:r>
              <a:rPr lang="en-IN" dirty="0"/>
              <a:t>Conclusion: </a:t>
            </a:r>
          </a:p>
        </p:txBody>
      </p:sp>
      <p:sp>
        <p:nvSpPr>
          <p:cNvPr id="3" name="Content Placeholder 2">
            <a:extLst>
              <a:ext uri="{FF2B5EF4-FFF2-40B4-BE49-F238E27FC236}">
                <a16:creationId xmlns:a16="http://schemas.microsoft.com/office/drawing/2014/main" id="{CD5E7E37-F01F-4EB3-95F5-1C4A9284A8B6}"/>
              </a:ext>
            </a:extLst>
          </p:cNvPr>
          <p:cNvSpPr>
            <a:spLocks noGrp="1"/>
          </p:cNvSpPr>
          <p:nvPr>
            <p:ph idx="1"/>
          </p:nvPr>
        </p:nvSpPr>
        <p:spPr/>
        <p:txBody>
          <a:bodyPr>
            <a:normAutofit fontScale="92500"/>
          </a:bodyPr>
          <a:lstStyle/>
          <a:p>
            <a:r>
              <a:rPr lang="en-US" dirty="0"/>
              <a:t>In conclusion, this document outlines the architecture, features, and functionalities of the LearnBytes </a:t>
            </a:r>
            <a:r>
              <a:rPr lang="en-US" dirty="0" err="1"/>
              <a:t>edtech</a:t>
            </a:r>
            <a:r>
              <a:rPr lang="en-US" dirty="0"/>
              <a:t> platform. It highlights the use of MERN stack technologies and REST API design and outlines the deployment process using free hosting services, </a:t>
            </a:r>
            <a:r>
              <a:rPr lang="en-US" dirty="0" err="1"/>
              <a:t>Vercel</a:t>
            </a:r>
            <a:r>
              <a:rPr lang="en-US" dirty="0"/>
              <a:t> for the front-end, Render.com or </a:t>
            </a:r>
            <a:r>
              <a:rPr lang="en-US" dirty="0" err="1"/>
              <a:t>Railway.app</a:t>
            </a:r>
            <a:r>
              <a:rPr lang="en-US" dirty="0"/>
              <a:t> for the backend, and MongoDB Atlas for the database. Additionally, it lists potential future enhancements that could be implemented to improve the platform, along with their estimated timelines and priorities. </a:t>
            </a:r>
          </a:p>
          <a:p>
            <a:r>
              <a:rPr lang="en-US" dirty="0"/>
              <a:t>Throughout the development of the project, various achievements will be made in terms of implementing the desired functionalities and creating a user-friendly interface. However, there will be challenges to be faced during the development process, such as integrating different technologies and debugging errors.</a:t>
            </a:r>
            <a:endParaRPr lang="en-IN" dirty="0"/>
          </a:p>
        </p:txBody>
      </p:sp>
    </p:spTree>
    <p:extLst>
      <p:ext uri="{BB962C8B-B14F-4D97-AF65-F5344CB8AC3E}">
        <p14:creationId xmlns:p14="http://schemas.microsoft.com/office/powerpoint/2010/main" val="1028068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D3146-8104-443B-AA9B-D40A8F46E5FD}"/>
              </a:ext>
            </a:extLst>
          </p:cNvPr>
          <p:cNvSpPr>
            <a:spLocks noGrp="1"/>
          </p:cNvSpPr>
          <p:nvPr>
            <p:ph type="ctrTitle"/>
          </p:nvPr>
        </p:nvSpPr>
        <p:spPr>
          <a:xfrm>
            <a:off x="3377560" y="2900226"/>
            <a:ext cx="5436880" cy="1057548"/>
          </a:xfrm>
        </p:spPr>
        <p:txBody>
          <a:bodyPr/>
          <a:lstStyle/>
          <a:p>
            <a:pPr algn="ctr"/>
            <a:r>
              <a:rPr lang="en-US" b="1" dirty="0"/>
              <a:t>Thank You</a:t>
            </a:r>
            <a:endParaRPr lang="en-IN" b="1" dirty="0"/>
          </a:p>
        </p:txBody>
      </p:sp>
      <p:sp>
        <p:nvSpPr>
          <p:cNvPr id="3" name="Subtitle 2">
            <a:extLst>
              <a:ext uri="{FF2B5EF4-FFF2-40B4-BE49-F238E27FC236}">
                <a16:creationId xmlns:a16="http://schemas.microsoft.com/office/drawing/2014/main" id="{A91E0BF4-C3C2-4711-B2BB-E90F1C19B006}"/>
              </a:ext>
            </a:extLst>
          </p:cNvPr>
          <p:cNvSpPr>
            <a:spLocks noGrp="1"/>
          </p:cNvSpPr>
          <p:nvPr>
            <p:ph type="subTitle" idx="1"/>
          </p:nvPr>
        </p:nvSpPr>
        <p:spPr>
          <a:xfrm flipH="1">
            <a:off x="-3192236" y="4001045"/>
            <a:ext cx="1273629" cy="595448"/>
          </a:xfrm>
        </p:spPr>
        <p:txBody>
          <a:bodyPr>
            <a:normAutofit/>
          </a:bodyPr>
          <a:lstStyle/>
          <a:p>
            <a:endParaRPr lang="en-IN" dirty="0"/>
          </a:p>
        </p:txBody>
      </p:sp>
    </p:spTree>
    <p:extLst>
      <p:ext uri="{BB962C8B-B14F-4D97-AF65-F5344CB8AC3E}">
        <p14:creationId xmlns:p14="http://schemas.microsoft.com/office/powerpoint/2010/main" val="28157069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98</TotalTime>
  <Words>2427</Words>
  <Application>Microsoft Office PowerPoint</Application>
  <PresentationFormat>Widescreen</PresentationFormat>
  <Paragraphs>120</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Century Gothic</vt:lpstr>
      <vt:lpstr>Wingdings</vt:lpstr>
      <vt:lpstr>Wingdings 3</vt:lpstr>
      <vt:lpstr>Ion Boardroom</vt:lpstr>
      <vt:lpstr>LearnBytes </vt:lpstr>
      <vt:lpstr>Project Description </vt:lpstr>
      <vt:lpstr>PowerPoint Presentation</vt:lpstr>
      <vt:lpstr>System Architecture</vt:lpstr>
      <vt:lpstr>PowerPoint Presentation</vt:lpstr>
      <vt:lpstr>Front-end</vt:lpstr>
      <vt:lpstr>PowerPoint Presentation</vt:lpstr>
      <vt:lpstr>For Instructors (this is for future scope):</vt:lpstr>
      <vt:lpstr>For Admin (this is for future scope):</vt:lpstr>
      <vt:lpstr>Back-end </vt:lpstr>
      <vt:lpstr>PowerPoint Presentation</vt:lpstr>
      <vt:lpstr>PowerPoint Presentation</vt:lpstr>
      <vt:lpstr>PowerPoint Presentation</vt:lpstr>
      <vt:lpstr>PowerPoint Presentation</vt:lpstr>
      <vt:lpstr>API Design:</vt:lpstr>
      <vt:lpstr>PowerPoint Presentation</vt:lpstr>
      <vt:lpstr>Future Enhancements: </vt:lpstr>
      <vt:lpstr>PowerPoint Presentation</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LearnBytes</dc:title>
  <dc:creator>Ankit Jha</dc:creator>
  <cp:lastModifiedBy>Ankit Jha</cp:lastModifiedBy>
  <cp:revision>11</cp:revision>
  <dcterms:created xsi:type="dcterms:W3CDTF">2024-12-19T15:35:29Z</dcterms:created>
  <dcterms:modified xsi:type="dcterms:W3CDTF">2024-12-20T04:52:27Z</dcterms:modified>
</cp:coreProperties>
</file>